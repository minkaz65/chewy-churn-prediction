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predicts which Chewy customers will churn in the next 90 days, using PySpark for large-scale data engineering and both PyTorch and TensorFlow for the predictive models. Everything is reproducible in the linked GitHub repo and runs top-to-bottom in Google Colab in about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Chewy's business model makes retention the single most important lever: about 83 percent of net sales come from Autoship subscribers. With roughly 20 million active customers, even a one-point improvement in churn is worth an enormous amount. Our goal: rank customers by 90-day churn risk so the retention team can intervene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Because Chewy's real customer data is proprietary, stage one generates a realistic synthetic dataset from public facts. PySpark handles the data engineering exactly as it would on a production cluster. After exploratory analysis, the same neural architecture is trained in both PyTorch and TensorFlow and compared against a logistic-regression baseline, and finally model quality is translated into a targeting policy with a dollar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synthetic table mirrors what Chewy's customer warehouse would actually contain, across account, purchasing, engagement, and service dimensions. The churn label is generated causally from the features plus noise, so models must find genuine signal. We also inject missing values and duplicates deliberately so the data-engineering stage has real work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PySpark? At 20 million customers and billions of order rows, preparation runs on Spark clusters. The pipeline deduplicates, imputes with distributed approximate quantiles, and builds four engineered features. The most powerful is order_gap_ratio: ninety quiet days is alarming for a weekly buyer but normal for a quarterly one — silence relative to the customer's own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structural findings. Left: customers without Autoship churn at roughly sixteen percent versus about four percent for subscribers — that's why Chewy pushes the program so hard. Right: churn falls steadily with tenure; the first six months are the danger zone, which argues for deliberate early-lifecycle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distribution of days since last order for churners is shifted far to the right — customers disengage before they cancel. Right: unresolved support tickets sharply raise churn, ticket by ticket. Both signals are operationally actionable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multi-layer perceptron is implemented twice. In PyTorch we write the training loop ourselves with a weighted loss and manual early stopping; in Keras the framework handles the loop with class weights and a callback. Identical architecture and data mean a fair framework comparison — and both must beat a logistic-regression baseline to justify their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test set, both neural networks clearly beat the logistic-regression baseline on ROC-AUC and PR-AUC, and they agree closely with each other. The learning curves show clean convergence with early stopping, and the confusion matrices show the class-weighted models catch the majority of churners at the 0.5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churn model creates value through ranking. Calling the riskiest ten percent of customers captures the majority of true churners at several times the precision of random outreach. Scaled to Chewy's customer base with conservative assumptions, that's on the order of hundreds of millions of dollars of preserved revenue per year, net of campaign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actions fall straight out of the analysis: push Autoship conversion for at-risk non-subscribers, resolve support tickets fast on high-risk accounts, alert on unusual order silence using the order-gap-ratio feature, and invest in onboarding during the fragile first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for production: time-based validation, gradient-boosted baselines, survival modeling, per-customer explanations, and deployment as a nightly Spark scoring job. The full reproducible project is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822960" y="1965960"/>
            <a:ext cx="10515600" cy="137160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Predicting Customer Churn at Chewy</a:t>
            </a:r>
            <a:endParaRPr lang="en-US" sz="4800" dirty="0"/>
          </a:p>
        </p:txBody>
      </p:sp>
      <p:sp>
        <p:nvSpPr>
          <p:cNvPr id="3" name="Text 1"/>
          <p:cNvSpPr/>
          <p:nvPr/>
        </p:nvSpPr>
        <p:spPr>
          <a:xfrm>
            <a:off x="822960" y="3291840"/>
            <a:ext cx="10058400" cy="54864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An end-to-end machine learning project with PySpark, PyTorch, and TensorFlow</a:t>
            </a:r>
            <a:endParaRPr lang="en-US" sz="2000" dirty="0"/>
          </a:p>
        </p:txBody>
      </p:sp>
      <p:sp>
        <p:nvSpPr>
          <p:cNvPr id="4" name="Text 2"/>
          <p:cNvSpPr/>
          <p:nvPr/>
        </p:nvSpPr>
        <p:spPr>
          <a:xfrm>
            <a:off x="822960" y="4206240"/>
            <a:ext cx="10058400" cy="457200"/>
          </a:xfrm>
          <a:prstGeom prst="rect">
            <a:avLst/>
          </a:prstGeom>
          <a:noFill/>
          <a:ln/>
        </p:spPr>
        <p:txBody>
          <a:bodyPr wrap="square" rtlCol="0" anchor="ctr"/>
          <a:lstStyle/>
          <a:p>
            <a:pPr indent="0" marL="0">
              <a:buNone/>
            </a:pPr>
            <a:r>
              <a:rPr lang="en-US" sz="1400" b="1" dirty="0">
                <a:solidFill>
                  <a:srgbClr val="9FB6D9"/>
                </a:solidFill>
                <a:latin typeface="Calibri" pitchFamily="34" charset="0"/>
                <a:ea typeface="Calibri" pitchFamily="34" charset="-122"/>
                <a:cs typeface="Calibri" pitchFamily="34" charset="-120"/>
              </a:rPr>
              <a:t>NAVAK</a:t>
            </a:r>
            <a:pPr indent="0" marL="0">
              <a:buNone/>
            </a:pPr>
            <a:r>
              <a:rPr lang="en-US" sz="1400" dirty="0">
                <a:solidFill>
                  <a:srgbClr val="9FB6D9"/>
                </a:solidFill>
                <a:latin typeface="Calibri" pitchFamily="34" charset="0"/>
                <a:ea typeface="Calibri" pitchFamily="34" charset="-122"/>
                <a:cs typeface="Calibri" pitchFamily="34" charset="-120"/>
              </a:rPr>
              <a:t>   ·   July 2026   ·   github.com/minkaz65/chewy-churn-prediction</a:t>
            </a:r>
            <a:endParaRPr lang="en-US" sz="1400" dirty="0"/>
          </a:p>
        </p:txBody>
      </p:sp>
      <p:sp>
        <p:nvSpPr>
          <p:cNvPr id="5" name="Text 3"/>
          <p:cNvSpPr/>
          <p:nvPr/>
        </p:nvSpPr>
        <p:spPr>
          <a:xfrm>
            <a:off x="10424160" y="548640"/>
            <a:ext cx="1097280" cy="109728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Why churn is THE problem for Chewy</a:t>
            </a:r>
            <a:endParaRPr lang="en-US" sz="3200" dirty="0"/>
          </a:p>
        </p:txBody>
      </p:sp>
      <p:sp>
        <p:nvSpPr>
          <p:cNvPr id="3" name="Shape 1"/>
          <p:cNvSpPr/>
          <p:nvPr/>
        </p:nvSpPr>
        <p:spPr>
          <a:xfrm>
            <a:off x="548640" y="1371600"/>
            <a:ext cx="3474720" cy="1737360"/>
          </a:xfrm>
          <a:prstGeom prst="roundRect">
            <a:avLst>
              <a:gd name="adj" fmla="val 4211"/>
            </a:avLst>
          </a:prstGeom>
          <a:solidFill>
            <a:srgbClr val="EAF2FC"/>
          </a:solidFill>
          <a:ln/>
        </p:spPr>
      </p:sp>
      <p:sp>
        <p:nvSpPr>
          <p:cNvPr id="4" name="Text 2"/>
          <p:cNvSpPr/>
          <p:nvPr/>
        </p:nvSpPr>
        <p:spPr>
          <a:xfrm>
            <a:off x="548640" y="1481328"/>
            <a:ext cx="3474720" cy="903427"/>
          </a:xfrm>
          <a:prstGeom prst="rect">
            <a:avLst/>
          </a:prstGeom>
          <a:noFill/>
          <a:ln/>
        </p:spPr>
        <p:txBody>
          <a:bodyPr wrap="square" lIns="0" tIns="0" rIns="0" bIns="0" rtlCol="0" anchor="ctr"/>
          <a:lstStyle/>
          <a:p>
            <a:pPr algn="ctr" indent="0" marL="0">
              <a:buNone/>
            </a:pPr>
            <a:r>
              <a:rPr lang="en-US" sz="4000" b="1" dirty="0">
                <a:solidFill>
                  <a:srgbClr val="2A78D6"/>
                </a:solidFill>
                <a:latin typeface="Calibri" pitchFamily="34" charset="0"/>
                <a:ea typeface="Calibri" pitchFamily="34" charset="-122"/>
                <a:cs typeface="Calibri" pitchFamily="34" charset="-120"/>
              </a:rPr>
              <a:t>83%</a:t>
            </a:r>
            <a:endParaRPr lang="en-US" sz="4000" dirty="0"/>
          </a:p>
        </p:txBody>
      </p:sp>
      <p:sp>
        <p:nvSpPr>
          <p:cNvPr id="5" name="Text 3"/>
          <p:cNvSpPr/>
          <p:nvPr/>
        </p:nvSpPr>
        <p:spPr>
          <a:xfrm>
            <a:off x="685800" y="2414016"/>
            <a:ext cx="3200400" cy="625450"/>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of Chewy's net sales come from Autoship subscribers (FY2025 filings)</a:t>
            </a:r>
            <a:endParaRPr lang="en-US" sz="1250" dirty="0"/>
          </a:p>
        </p:txBody>
      </p:sp>
      <p:sp>
        <p:nvSpPr>
          <p:cNvPr id="6" name="Shape 4"/>
          <p:cNvSpPr/>
          <p:nvPr/>
        </p:nvSpPr>
        <p:spPr>
          <a:xfrm>
            <a:off x="4343400" y="1371600"/>
            <a:ext cx="3474720" cy="1737360"/>
          </a:xfrm>
          <a:prstGeom prst="roundRect">
            <a:avLst>
              <a:gd name="adj" fmla="val 4211"/>
            </a:avLst>
          </a:prstGeom>
          <a:solidFill>
            <a:srgbClr val="EAF2FC"/>
          </a:solidFill>
          <a:ln/>
        </p:spPr>
      </p:sp>
      <p:sp>
        <p:nvSpPr>
          <p:cNvPr id="7" name="Text 5"/>
          <p:cNvSpPr/>
          <p:nvPr/>
        </p:nvSpPr>
        <p:spPr>
          <a:xfrm>
            <a:off x="4343400" y="1481328"/>
            <a:ext cx="3474720" cy="903427"/>
          </a:xfrm>
          <a:prstGeom prst="rect">
            <a:avLst/>
          </a:prstGeom>
          <a:noFill/>
          <a:ln/>
        </p:spPr>
        <p:txBody>
          <a:bodyPr wrap="square" lIns="0" tIns="0" rIns="0" bIns="0" rtlCol="0" anchor="ctr"/>
          <a:lstStyle/>
          <a:p>
            <a:pPr algn="ctr" indent="0" marL="0">
              <a:buNone/>
            </a:pPr>
            <a:r>
              <a:rPr lang="en-US" sz="4000" b="1" dirty="0">
                <a:solidFill>
                  <a:srgbClr val="2A78D6"/>
                </a:solidFill>
                <a:latin typeface="Calibri" pitchFamily="34" charset="0"/>
                <a:ea typeface="Calibri" pitchFamily="34" charset="-122"/>
                <a:cs typeface="Calibri" pitchFamily="34" charset="-120"/>
              </a:rPr>
              <a:t>~20M</a:t>
            </a:r>
            <a:endParaRPr lang="en-US" sz="4000" dirty="0"/>
          </a:p>
        </p:txBody>
      </p:sp>
      <p:sp>
        <p:nvSpPr>
          <p:cNvPr id="8" name="Text 6"/>
          <p:cNvSpPr/>
          <p:nvPr/>
        </p:nvSpPr>
        <p:spPr>
          <a:xfrm>
            <a:off x="4480560" y="2414016"/>
            <a:ext cx="3200400" cy="625450"/>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active customers whose repeat orders are the whole business model</a:t>
            </a:r>
            <a:endParaRPr lang="en-US" sz="1250" dirty="0"/>
          </a:p>
        </p:txBody>
      </p:sp>
      <p:sp>
        <p:nvSpPr>
          <p:cNvPr id="9" name="Shape 7"/>
          <p:cNvSpPr/>
          <p:nvPr/>
        </p:nvSpPr>
        <p:spPr>
          <a:xfrm>
            <a:off x="8138160" y="1371600"/>
            <a:ext cx="3474720" cy="1737360"/>
          </a:xfrm>
          <a:prstGeom prst="roundRect">
            <a:avLst>
              <a:gd name="adj" fmla="val 4211"/>
            </a:avLst>
          </a:prstGeom>
          <a:solidFill>
            <a:srgbClr val="FDEFE8"/>
          </a:solidFill>
          <a:ln/>
        </p:spPr>
      </p:sp>
      <p:sp>
        <p:nvSpPr>
          <p:cNvPr id="10" name="Text 8"/>
          <p:cNvSpPr/>
          <p:nvPr/>
        </p:nvSpPr>
        <p:spPr>
          <a:xfrm>
            <a:off x="8138160" y="1481328"/>
            <a:ext cx="3474720" cy="903427"/>
          </a:xfrm>
          <a:prstGeom prst="rect">
            <a:avLst/>
          </a:prstGeom>
          <a:noFill/>
          <a:ln/>
        </p:spPr>
        <p:txBody>
          <a:bodyPr wrap="square" lIns="0" tIns="0" rIns="0" bIns="0" rtlCol="0" anchor="ctr"/>
          <a:lstStyle/>
          <a:p>
            <a:pPr algn="ctr" indent="0" marL="0">
              <a:buNone/>
            </a:pPr>
            <a:r>
              <a:rPr lang="en-US" sz="4000" b="1" dirty="0">
                <a:solidFill>
                  <a:srgbClr val="EB6834"/>
                </a:solidFill>
                <a:latin typeface="Calibri" pitchFamily="34" charset="0"/>
                <a:ea typeface="Calibri" pitchFamily="34" charset="-122"/>
                <a:cs typeface="Calibri" pitchFamily="34" charset="-120"/>
              </a:rPr>
              <a:t>90 days</a:t>
            </a:r>
            <a:endParaRPr lang="en-US" sz="4000" dirty="0"/>
          </a:p>
        </p:txBody>
      </p:sp>
      <p:sp>
        <p:nvSpPr>
          <p:cNvPr id="11" name="Text 9"/>
          <p:cNvSpPr/>
          <p:nvPr/>
        </p:nvSpPr>
        <p:spPr>
          <a:xfrm>
            <a:off x="8275320" y="2414016"/>
            <a:ext cx="3200400" cy="625450"/>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prediction window: who cancels next quarter?</a:t>
            </a:r>
            <a:endParaRPr lang="en-US" sz="1250" dirty="0"/>
          </a:p>
        </p:txBody>
      </p:sp>
      <p:sp>
        <p:nvSpPr>
          <p:cNvPr id="12" name="Text 10"/>
          <p:cNvSpPr/>
          <p:nvPr/>
        </p:nvSpPr>
        <p:spPr>
          <a:xfrm>
            <a:off x="548640" y="3566160"/>
            <a:ext cx="11064240" cy="2468880"/>
          </a:xfrm>
          <a:prstGeom prst="rect">
            <a:avLst/>
          </a:prstGeom>
          <a:noFill/>
          <a:ln/>
        </p:spPr>
        <p:txBody>
          <a:bodyPr wrap="square" rtlCol="0" anchor="t"/>
          <a:lstStyle/>
          <a:p>
            <a:pPr indent="0" marL="0">
              <a:buNone/>
            </a:pPr>
            <a:r>
              <a:rPr lang="en-US" sz="1500" dirty="0">
                <a:solidFill>
                  <a:srgbClr val="0B0B0B"/>
                </a:solidFill>
                <a:latin typeface="Calibri" pitchFamily="34" charset="0"/>
                <a:ea typeface="Calibri" pitchFamily="34" charset="-122"/>
                <a:cs typeface="Calibri" pitchFamily="34" charset="-120"/>
              </a:rPr>
              <a:t>Chewy is the largest online pet retailer in the U.S. Revenue is built on repeat purchases — the Autoship subscription delivers food, litter, and medication on a schedule.
</a:t>
            </a:r>
            <a:pPr indent="0" marL="0">
              <a:buNone/>
            </a:pPr>
            <a:r>
              <a:rPr lang="en-US" sz="1800" b="1" dirty="0">
                <a:solidFill>
                  <a:srgbClr val="2A78D6"/>
                </a:solidFill>
                <a:latin typeface="Calibri" pitchFamily="34" charset="0"/>
                <a:ea typeface="Calibri" pitchFamily="34" charset="-122"/>
                <a:cs typeface="Calibri" pitchFamily="34" charset="-120"/>
              </a:rPr>
              <a:t>Losing a customer doesn't lose one order. It loses an annuity.
</a:t>
            </a:r>
            <a:pPr indent="0" marL="0">
              <a:buNone/>
            </a:pPr>
            <a:r>
              <a:rPr lang="en-US" sz="1500" i="1" dirty="0">
                <a:solidFill>
                  <a:srgbClr val="0B0B0B"/>
                </a:solidFill>
                <a:latin typeface="Calibri" pitchFamily="34" charset="0"/>
                <a:ea typeface="Calibri" pitchFamily="34" charset="-122"/>
                <a:cs typeface="Calibri" pitchFamily="34" charset="-120"/>
              </a:rPr>
              <a:t>The business question: which specific customers are most likely to cancel in the next 90 days — so retention can act before the cancellation, not after?</a:t>
            </a:r>
            <a:endParaRPr lang="en-US" sz="1500" dirty="0"/>
          </a:p>
        </p:txBody>
      </p:sp>
      <p:sp>
        <p:nvSpPr>
          <p:cNvPr id="13" name="Text 11"/>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The end-to-end pipeline</a:t>
            </a:r>
            <a:endParaRPr lang="en-US" sz="3200" dirty="0"/>
          </a:p>
        </p:txBody>
      </p:sp>
      <p:sp>
        <p:nvSpPr>
          <p:cNvPr id="3" name="Shape 1"/>
          <p:cNvSpPr/>
          <p:nvPr/>
        </p:nvSpPr>
        <p:spPr>
          <a:xfrm>
            <a:off x="548640" y="2011680"/>
            <a:ext cx="2084832" cy="2834640"/>
          </a:xfrm>
          <a:prstGeom prst="roundRect">
            <a:avLst>
              <a:gd name="adj" fmla="val 3509"/>
            </a:avLst>
          </a:prstGeom>
          <a:solidFill>
            <a:srgbClr val="EAF2FC"/>
          </a:solidFill>
          <a:ln/>
        </p:spPr>
      </p:sp>
      <p:sp>
        <p:nvSpPr>
          <p:cNvPr id="4" name="Shape 2"/>
          <p:cNvSpPr/>
          <p:nvPr/>
        </p:nvSpPr>
        <p:spPr>
          <a:xfrm>
            <a:off x="1271016" y="2286000"/>
            <a:ext cx="640080" cy="640080"/>
          </a:xfrm>
          <a:prstGeom prst="ellipse">
            <a:avLst/>
          </a:prstGeom>
          <a:solidFill>
            <a:srgbClr val="2A78D6"/>
          </a:solidFill>
          <a:ln/>
        </p:spPr>
      </p:sp>
      <p:sp>
        <p:nvSpPr>
          <p:cNvPr id="5" name="Text 3"/>
          <p:cNvSpPr/>
          <p:nvPr/>
        </p:nvSpPr>
        <p:spPr>
          <a:xfrm>
            <a:off x="1271016" y="22860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6" name="Text 4"/>
          <p:cNvSpPr/>
          <p:nvPr/>
        </p:nvSpPr>
        <p:spPr>
          <a:xfrm>
            <a:off x="640080" y="3063240"/>
            <a:ext cx="1901952" cy="548640"/>
          </a:xfrm>
          <a:prstGeom prst="rect">
            <a:avLst/>
          </a:prstGeom>
          <a:noFill/>
          <a:ln/>
        </p:spPr>
        <p:txBody>
          <a:bodyPr wrap="square" lIns="0" tIns="0" rIns="0" bIns="0" rtlCol="0" anchor="ctr"/>
          <a:lstStyle/>
          <a:p>
            <a:pPr algn="ctr" indent="0" marL="0">
              <a:buNone/>
            </a:pPr>
            <a:r>
              <a:rPr lang="en-US" sz="1500" b="1" dirty="0">
                <a:solidFill>
                  <a:srgbClr val="0B0B0B"/>
                </a:solidFill>
                <a:latin typeface="Calibri" pitchFamily="34" charset="0"/>
                <a:ea typeface="Calibri" pitchFamily="34" charset="-122"/>
                <a:cs typeface="Calibri" pitchFamily="34" charset="-120"/>
              </a:rPr>
              <a:t>Synthetic data</a:t>
            </a:r>
            <a:endParaRPr lang="en-US" sz="1500" dirty="0"/>
          </a:p>
        </p:txBody>
      </p:sp>
      <p:sp>
        <p:nvSpPr>
          <p:cNvPr id="7" name="Text 5"/>
          <p:cNvSpPr/>
          <p:nvPr/>
        </p:nvSpPr>
        <p:spPr>
          <a:xfrm>
            <a:off x="685800" y="3611880"/>
            <a:ext cx="1810512" cy="1097280"/>
          </a:xfrm>
          <a:prstGeom prst="rect">
            <a:avLst/>
          </a:prstGeom>
          <a:noFill/>
          <a:ln/>
        </p:spPr>
        <p:txBody>
          <a:bodyPr wrap="square" lIns="0" tIns="0" rIns="0" bIns="0" rtlCol="0" anchor="ctr"/>
          <a:lstStyle/>
          <a:p>
            <a:pPr algn="ctr" indent="0" marL="0">
              <a:buNone/>
            </a:pPr>
            <a:r>
              <a:rPr lang="en-US" sz="1100" dirty="0">
                <a:solidFill>
                  <a:srgbClr val="52514E"/>
                </a:solidFill>
                <a:latin typeface="Calibri" pitchFamily="34" charset="0"/>
                <a:ea typeface="Calibri" pitchFamily="34" charset="-122"/>
                <a:cs typeface="Calibri" pitchFamily="34" charset="-120"/>
              </a:rPr>
              <a:t>50K customers generated from public Chewy business facts</a:t>
            </a:r>
            <a:endParaRPr lang="en-US" sz="1100" dirty="0"/>
          </a:p>
        </p:txBody>
      </p:sp>
      <p:sp>
        <p:nvSpPr>
          <p:cNvPr id="8" name="Shape 6"/>
          <p:cNvSpPr/>
          <p:nvPr/>
        </p:nvSpPr>
        <p:spPr>
          <a:xfrm>
            <a:off x="2852928" y="2011680"/>
            <a:ext cx="2084832" cy="2834640"/>
          </a:xfrm>
          <a:prstGeom prst="roundRect">
            <a:avLst>
              <a:gd name="adj" fmla="val 3509"/>
            </a:avLst>
          </a:prstGeom>
          <a:solidFill>
            <a:srgbClr val="EAF2FC"/>
          </a:solidFill>
          <a:ln/>
        </p:spPr>
      </p:sp>
      <p:sp>
        <p:nvSpPr>
          <p:cNvPr id="9" name="Shape 7"/>
          <p:cNvSpPr/>
          <p:nvPr/>
        </p:nvSpPr>
        <p:spPr>
          <a:xfrm>
            <a:off x="3575304" y="2286000"/>
            <a:ext cx="640080" cy="640080"/>
          </a:xfrm>
          <a:prstGeom prst="ellipse">
            <a:avLst/>
          </a:prstGeom>
          <a:solidFill>
            <a:srgbClr val="2A78D6"/>
          </a:solidFill>
          <a:ln/>
        </p:spPr>
      </p:sp>
      <p:sp>
        <p:nvSpPr>
          <p:cNvPr id="10" name="Text 8"/>
          <p:cNvSpPr/>
          <p:nvPr/>
        </p:nvSpPr>
        <p:spPr>
          <a:xfrm>
            <a:off x="3575304" y="22860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1" name="Text 9"/>
          <p:cNvSpPr/>
          <p:nvPr/>
        </p:nvSpPr>
        <p:spPr>
          <a:xfrm>
            <a:off x="2944368" y="3063240"/>
            <a:ext cx="1901952" cy="548640"/>
          </a:xfrm>
          <a:prstGeom prst="rect">
            <a:avLst/>
          </a:prstGeom>
          <a:noFill/>
          <a:ln/>
        </p:spPr>
        <p:txBody>
          <a:bodyPr wrap="square" lIns="0" tIns="0" rIns="0" bIns="0" rtlCol="0" anchor="ctr"/>
          <a:lstStyle/>
          <a:p>
            <a:pPr algn="ctr" indent="0" marL="0">
              <a:buNone/>
            </a:pPr>
            <a:r>
              <a:rPr lang="en-US" sz="1500" b="1" dirty="0">
                <a:solidFill>
                  <a:srgbClr val="0B0B0B"/>
                </a:solidFill>
                <a:latin typeface="Calibri" pitchFamily="34" charset="0"/>
                <a:ea typeface="Calibri" pitchFamily="34" charset="-122"/>
                <a:cs typeface="Calibri" pitchFamily="34" charset="-120"/>
              </a:rPr>
              <a:t>PySpark ETL</a:t>
            </a:r>
            <a:endParaRPr lang="en-US" sz="1500" dirty="0"/>
          </a:p>
        </p:txBody>
      </p:sp>
      <p:sp>
        <p:nvSpPr>
          <p:cNvPr id="12" name="Text 10"/>
          <p:cNvSpPr/>
          <p:nvPr/>
        </p:nvSpPr>
        <p:spPr>
          <a:xfrm>
            <a:off x="2990088" y="3611880"/>
            <a:ext cx="1810512" cy="1097280"/>
          </a:xfrm>
          <a:prstGeom prst="rect">
            <a:avLst/>
          </a:prstGeom>
          <a:noFill/>
          <a:ln/>
        </p:spPr>
        <p:txBody>
          <a:bodyPr wrap="square" lIns="0" tIns="0" rIns="0" bIns="0" rtlCol="0" anchor="ctr"/>
          <a:lstStyle/>
          <a:p>
            <a:pPr algn="ctr" indent="0" marL="0">
              <a:buNone/>
            </a:pPr>
            <a:r>
              <a:rPr lang="en-US" sz="1100" dirty="0">
                <a:solidFill>
                  <a:srgbClr val="52514E"/>
                </a:solidFill>
                <a:latin typeface="Calibri" pitchFamily="34" charset="0"/>
                <a:ea typeface="Calibri" pitchFamily="34" charset="-122"/>
                <a:cs typeface="Calibri" pitchFamily="34" charset="-120"/>
              </a:rPr>
              <a:t>dedup, median imputation, Spark-SQL feature engineering</a:t>
            </a:r>
            <a:endParaRPr lang="en-US" sz="1100" dirty="0"/>
          </a:p>
        </p:txBody>
      </p:sp>
      <p:sp>
        <p:nvSpPr>
          <p:cNvPr id="13" name="Shape 11"/>
          <p:cNvSpPr/>
          <p:nvPr/>
        </p:nvSpPr>
        <p:spPr>
          <a:xfrm>
            <a:off x="5157216" y="2011680"/>
            <a:ext cx="2084832" cy="2834640"/>
          </a:xfrm>
          <a:prstGeom prst="roundRect">
            <a:avLst>
              <a:gd name="adj" fmla="val 3509"/>
            </a:avLst>
          </a:prstGeom>
          <a:solidFill>
            <a:srgbClr val="EAF2FC"/>
          </a:solidFill>
          <a:ln/>
        </p:spPr>
      </p:sp>
      <p:sp>
        <p:nvSpPr>
          <p:cNvPr id="14" name="Shape 12"/>
          <p:cNvSpPr/>
          <p:nvPr/>
        </p:nvSpPr>
        <p:spPr>
          <a:xfrm>
            <a:off x="5879592" y="2286000"/>
            <a:ext cx="640080" cy="640080"/>
          </a:xfrm>
          <a:prstGeom prst="ellipse">
            <a:avLst/>
          </a:prstGeom>
          <a:solidFill>
            <a:srgbClr val="2A78D6"/>
          </a:solidFill>
          <a:ln/>
        </p:spPr>
      </p:sp>
      <p:sp>
        <p:nvSpPr>
          <p:cNvPr id="15" name="Text 13"/>
          <p:cNvSpPr/>
          <p:nvPr/>
        </p:nvSpPr>
        <p:spPr>
          <a:xfrm>
            <a:off x="5879592" y="22860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6" name="Text 14"/>
          <p:cNvSpPr/>
          <p:nvPr/>
        </p:nvSpPr>
        <p:spPr>
          <a:xfrm>
            <a:off x="5248656" y="3063240"/>
            <a:ext cx="1901952" cy="548640"/>
          </a:xfrm>
          <a:prstGeom prst="rect">
            <a:avLst/>
          </a:prstGeom>
          <a:noFill/>
          <a:ln/>
        </p:spPr>
        <p:txBody>
          <a:bodyPr wrap="square" lIns="0" tIns="0" rIns="0" bIns="0" rtlCol="0" anchor="ctr"/>
          <a:lstStyle/>
          <a:p>
            <a:pPr algn="ctr" indent="0" marL="0">
              <a:buNone/>
            </a:pPr>
            <a:r>
              <a:rPr lang="en-US" sz="1500" b="1" dirty="0">
                <a:solidFill>
                  <a:srgbClr val="0B0B0B"/>
                </a:solidFill>
                <a:latin typeface="Calibri" pitchFamily="34" charset="0"/>
                <a:ea typeface="Calibri" pitchFamily="34" charset="-122"/>
                <a:cs typeface="Calibri" pitchFamily="34" charset="-120"/>
              </a:rPr>
              <a:t>EDA</a:t>
            </a:r>
            <a:endParaRPr lang="en-US" sz="1500" dirty="0"/>
          </a:p>
        </p:txBody>
      </p:sp>
      <p:sp>
        <p:nvSpPr>
          <p:cNvPr id="17" name="Text 15"/>
          <p:cNvSpPr/>
          <p:nvPr/>
        </p:nvSpPr>
        <p:spPr>
          <a:xfrm>
            <a:off x="5294376" y="3611880"/>
            <a:ext cx="1810512" cy="1097280"/>
          </a:xfrm>
          <a:prstGeom prst="rect">
            <a:avLst/>
          </a:prstGeom>
          <a:noFill/>
          <a:ln/>
        </p:spPr>
        <p:txBody>
          <a:bodyPr wrap="square" lIns="0" tIns="0" rIns="0" bIns="0" rtlCol="0" anchor="ctr"/>
          <a:lstStyle/>
          <a:p>
            <a:pPr algn="ctr" indent="0" marL="0">
              <a:buNone/>
            </a:pPr>
            <a:r>
              <a:rPr lang="en-US" sz="1100" dirty="0">
                <a:solidFill>
                  <a:srgbClr val="52514E"/>
                </a:solidFill>
                <a:latin typeface="Calibri" pitchFamily="34" charset="0"/>
                <a:ea typeface="Calibri" pitchFamily="34" charset="-122"/>
                <a:cs typeface="Calibri" pitchFamily="34" charset="-120"/>
              </a:rPr>
              <a:t>what actually drives churn — four visual findings</a:t>
            </a:r>
            <a:endParaRPr lang="en-US" sz="1100" dirty="0"/>
          </a:p>
        </p:txBody>
      </p:sp>
      <p:sp>
        <p:nvSpPr>
          <p:cNvPr id="18" name="Shape 16"/>
          <p:cNvSpPr/>
          <p:nvPr/>
        </p:nvSpPr>
        <p:spPr>
          <a:xfrm>
            <a:off x="7461504" y="2011680"/>
            <a:ext cx="2084832" cy="2834640"/>
          </a:xfrm>
          <a:prstGeom prst="roundRect">
            <a:avLst>
              <a:gd name="adj" fmla="val 3509"/>
            </a:avLst>
          </a:prstGeom>
          <a:solidFill>
            <a:srgbClr val="EAF2FC"/>
          </a:solidFill>
          <a:ln/>
        </p:spPr>
      </p:sp>
      <p:sp>
        <p:nvSpPr>
          <p:cNvPr id="19" name="Shape 17"/>
          <p:cNvSpPr/>
          <p:nvPr/>
        </p:nvSpPr>
        <p:spPr>
          <a:xfrm>
            <a:off x="8183880" y="2286000"/>
            <a:ext cx="640080" cy="640080"/>
          </a:xfrm>
          <a:prstGeom prst="ellipse">
            <a:avLst/>
          </a:prstGeom>
          <a:solidFill>
            <a:srgbClr val="EB6834"/>
          </a:solidFill>
          <a:ln/>
        </p:spPr>
      </p:sp>
      <p:sp>
        <p:nvSpPr>
          <p:cNvPr id="20" name="Text 18"/>
          <p:cNvSpPr/>
          <p:nvPr/>
        </p:nvSpPr>
        <p:spPr>
          <a:xfrm>
            <a:off x="8183880" y="22860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1" name="Text 19"/>
          <p:cNvSpPr/>
          <p:nvPr/>
        </p:nvSpPr>
        <p:spPr>
          <a:xfrm>
            <a:off x="7552944" y="3063240"/>
            <a:ext cx="1901952" cy="548640"/>
          </a:xfrm>
          <a:prstGeom prst="rect">
            <a:avLst/>
          </a:prstGeom>
          <a:noFill/>
          <a:ln/>
        </p:spPr>
        <p:txBody>
          <a:bodyPr wrap="square" lIns="0" tIns="0" rIns="0" bIns="0" rtlCol="0" anchor="ctr"/>
          <a:lstStyle/>
          <a:p>
            <a:pPr algn="ctr" indent="0" marL="0">
              <a:buNone/>
            </a:pPr>
            <a:r>
              <a:rPr lang="en-US" sz="1500" b="1" dirty="0">
                <a:solidFill>
                  <a:srgbClr val="0B0B0B"/>
                </a:solidFill>
                <a:latin typeface="Calibri" pitchFamily="34" charset="0"/>
                <a:ea typeface="Calibri" pitchFamily="34" charset="-122"/>
                <a:cs typeface="Calibri" pitchFamily="34" charset="-120"/>
              </a:rPr>
              <a:t>PyTorch + TensorFlow</a:t>
            </a:r>
            <a:endParaRPr lang="en-US" sz="1500" dirty="0"/>
          </a:p>
        </p:txBody>
      </p:sp>
      <p:sp>
        <p:nvSpPr>
          <p:cNvPr id="22" name="Text 20"/>
          <p:cNvSpPr/>
          <p:nvPr/>
        </p:nvSpPr>
        <p:spPr>
          <a:xfrm>
            <a:off x="7598664" y="3611880"/>
            <a:ext cx="1810512" cy="1097280"/>
          </a:xfrm>
          <a:prstGeom prst="rect">
            <a:avLst/>
          </a:prstGeom>
          <a:noFill/>
          <a:ln/>
        </p:spPr>
        <p:txBody>
          <a:bodyPr wrap="square" lIns="0" tIns="0" rIns="0" bIns="0" rtlCol="0" anchor="ctr"/>
          <a:lstStyle/>
          <a:p>
            <a:pPr algn="ctr" indent="0" marL="0">
              <a:buNone/>
            </a:pPr>
            <a:r>
              <a:rPr lang="en-US" sz="1100" dirty="0">
                <a:solidFill>
                  <a:srgbClr val="52514E"/>
                </a:solidFill>
                <a:latin typeface="Calibri" pitchFamily="34" charset="0"/>
                <a:ea typeface="Calibri" pitchFamily="34" charset="-122"/>
                <a:cs typeface="Calibri" pitchFamily="34" charset="-120"/>
              </a:rPr>
              <a:t>same neural net, two frameworks, honest baseline</a:t>
            </a:r>
            <a:endParaRPr lang="en-US" sz="1100" dirty="0"/>
          </a:p>
        </p:txBody>
      </p:sp>
      <p:sp>
        <p:nvSpPr>
          <p:cNvPr id="23" name="Shape 21"/>
          <p:cNvSpPr/>
          <p:nvPr/>
        </p:nvSpPr>
        <p:spPr>
          <a:xfrm>
            <a:off x="9765792" y="2011680"/>
            <a:ext cx="2084832" cy="2834640"/>
          </a:xfrm>
          <a:prstGeom prst="roundRect">
            <a:avLst>
              <a:gd name="adj" fmla="val 3509"/>
            </a:avLst>
          </a:prstGeom>
          <a:solidFill>
            <a:srgbClr val="EAF2FC"/>
          </a:solidFill>
          <a:ln/>
        </p:spPr>
      </p:sp>
      <p:sp>
        <p:nvSpPr>
          <p:cNvPr id="24" name="Shape 22"/>
          <p:cNvSpPr/>
          <p:nvPr/>
        </p:nvSpPr>
        <p:spPr>
          <a:xfrm>
            <a:off x="10488168" y="2286000"/>
            <a:ext cx="640080" cy="640080"/>
          </a:xfrm>
          <a:prstGeom prst="ellipse">
            <a:avLst/>
          </a:prstGeom>
          <a:solidFill>
            <a:srgbClr val="2A78D6"/>
          </a:solidFill>
          <a:ln/>
        </p:spPr>
      </p:sp>
      <p:sp>
        <p:nvSpPr>
          <p:cNvPr id="25" name="Text 23"/>
          <p:cNvSpPr/>
          <p:nvPr/>
        </p:nvSpPr>
        <p:spPr>
          <a:xfrm>
            <a:off x="10488168" y="22860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26" name="Text 24"/>
          <p:cNvSpPr/>
          <p:nvPr/>
        </p:nvSpPr>
        <p:spPr>
          <a:xfrm>
            <a:off x="9857232" y="3063240"/>
            <a:ext cx="1901952" cy="548640"/>
          </a:xfrm>
          <a:prstGeom prst="rect">
            <a:avLst/>
          </a:prstGeom>
          <a:noFill/>
          <a:ln/>
        </p:spPr>
        <p:txBody>
          <a:bodyPr wrap="square" lIns="0" tIns="0" rIns="0" bIns="0" rtlCol="0" anchor="ctr"/>
          <a:lstStyle/>
          <a:p>
            <a:pPr algn="ctr" indent="0" marL="0">
              <a:buNone/>
            </a:pPr>
            <a:r>
              <a:rPr lang="en-US" sz="1500" b="1" dirty="0">
                <a:solidFill>
                  <a:srgbClr val="0B0B0B"/>
                </a:solidFill>
                <a:latin typeface="Calibri" pitchFamily="34" charset="0"/>
                <a:ea typeface="Calibri" pitchFamily="34" charset="-122"/>
                <a:cs typeface="Calibri" pitchFamily="34" charset="-120"/>
              </a:rPr>
              <a:t>Business impact</a:t>
            </a:r>
            <a:endParaRPr lang="en-US" sz="1500" dirty="0"/>
          </a:p>
        </p:txBody>
      </p:sp>
      <p:sp>
        <p:nvSpPr>
          <p:cNvPr id="27" name="Text 25"/>
          <p:cNvSpPr/>
          <p:nvPr/>
        </p:nvSpPr>
        <p:spPr>
          <a:xfrm>
            <a:off x="9902952" y="3611880"/>
            <a:ext cx="1810512" cy="1097280"/>
          </a:xfrm>
          <a:prstGeom prst="rect">
            <a:avLst/>
          </a:prstGeom>
          <a:noFill/>
          <a:ln/>
        </p:spPr>
        <p:txBody>
          <a:bodyPr wrap="square" lIns="0" tIns="0" rIns="0" bIns="0" rtlCol="0" anchor="ctr"/>
          <a:lstStyle/>
          <a:p>
            <a:pPr algn="ctr" indent="0" marL="0">
              <a:buNone/>
            </a:pPr>
            <a:r>
              <a:rPr lang="en-US" sz="1100" dirty="0">
                <a:solidFill>
                  <a:srgbClr val="52514E"/>
                </a:solidFill>
                <a:latin typeface="Calibri" pitchFamily="34" charset="0"/>
                <a:ea typeface="Calibri" pitchFamily="34" charset="-122"/>
                <a:cs typeface="Calibri" pitchFamily="34" charset="-120"/>
              </a:rPr>
              <a:t>top-decile targeting policy and dollar value</a:t>
            </a:r>
            <a:endParaRPr lang="en-US" sz="1100" dirty="0"/>
          </a:p>
        </p:txBody>
      </p:sp>
      <p:sp>
        <p:nvSpPr>
          <p:cNvPr id="28" name="Text 26"/>
          <p:cNvSpPr/>
          <p:nvPr/>
        </p:nvSpPr>
        <p:spPr>
          <a:xfrm>
            <a:off x="548640" y="5257800"/>
            <a:ext cx="11064240" cy="457200"/>
          </a:xfrm>
          <a:prstGeom prst="rect">
            <a:avLst/>
          </a:prstGeom>
          <a:noFill/>
          <a:ln/>
        </p:spPr>
        <p:txBody>
          <a:bodyPr wrap="square" rtlCol="0" anchor="ctr"/>
          <a:lstStyle/>
          <a:p>
            <a:pPr algn="ctr" indent="0" marL="0">
              <a:buNone/>
            </a:pPr>
            <a:r>
              <a:rPr lang="en-US" sz="1400" i="1" dirty="0">
                <a:solidFill>
                  <a:srgbClr val="898781"/>
                </a:solidFill>
                <a:latin typeface="Calibri" pitchFamily="34" charset="0"/>
                <a:ea typeface="Calibri" pitchFamily="34" charset="-122"/>
                <a:cs typeface="Calibri" pitchFamily="34" charset="-120"/>
              </a:rPr>
              <a:t>One notebook, runnable top-to-bottom in Google Colab (~5 min on CPU)</a:t>
            </a:r>
            <a:endParaRPr lang="en-US" sz="1400" dirty="0"/>
          </a:p>
        </p:txBody>
      </p:sp>
      <p:sp>
        <p:nvSpPr>
          <p:cNvPr id="29" name="Text 27"/>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The dataset: 50,000 customers, honest mess included</a:t>
            </a:r>
            <a:endParaRPr lang="en-US" sz="3200" dirty="0"/>
          </a:p>
        </p:txBody>
      </p:sp>
      <p:sp>
        <p:nvSpPr>
          <p:cNvPr id="3" name="Shape 1"/>
          <p:cNvSpPr/>
          <p:nvPr/>
        </p:nvSpPr>
        <p:spPr>
          <a:xfrm>
            <a:off x="548640" y="1325880"/>
            <a:ext cx="2651760" cy="1554480"/>
          </a:xfrm>
          <a:prstGeom prst="roundRect">
            <a:avLst>
              <a:gd name="adj" fmla="val 4706"/>
            </a:avLst>
          </a:prstGeom>
          <a:solidFill>
            <a:srgbClr val="EAF2FC"/>
          </a:solidFill>
          <a:ln/>
        </p:spPr>
      </p:sp>
      <p:sp>
        <p:nvSpPr>
          <p:cNvPr id="4" name="Text 2"/>
          <p:cNvSpPr/>
          <p:nvPr/>
        </p:nvSpPr>
        <p:spPr>
          <a:xfrm>
            <a:off x="548640" y="1435608"/>
            <a:ext cx="2651760" cy="808330"/>
          </a:xfrm>
          <a:prstGeom prst="rect">
            <a:avLst/>
          </a:prstGeom>
          <a:noFill/>
          <a:ln/>
        </p:spPr>
        <p:txBody>
          <a:bodyPr wrap="square" lIns="0" tIns="0" rIns="0" bIns="0" rtlCol="0" anchor="ctr"/>
          <a:lstStyle/>
          <a:p>
            <a:pPr algn="ctr" indent="0" marL="0">
              <a:buNone/>
            </a:pPr>
            <a:r>
              <a:rPr lang="en-US" sz="4000" b="1" dirty="0">
                <a:solidFill>
                  <a:srgbClr val="2A78D6"/>
                </a:solidFill>
                <a:latin typeface="Calibri" pitchFamily="34" charset="0"/>
                <a:ea typeface="Calibri" pitchFamily="34" charset="-122"/>
                <a:cs typeface="Calibri" pitchFamily="34" charset="-120"/>
              </a:rPr>
              <a:t>50,000</a:t>
            </a:r>
            <a:endParaRPr lang="en-US" sz="4000" dirty="0"/>
          </a:p>
        </p:txBody>
      </p:sp>
      <p:sp>
        <p:nvSpPr>
          <p:cNvPr id="5" name="Text 3"/>
          <p:cNvSpPr/>
          <p:nvPr/>
        </p:nvSpPr>
        <p:spPr>
          <a:xfrm>
            <a:off x="685800" y="2258568"/>
            <a:ext cx="2377440" cy="559613"/>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customers</a:t>
            </a:r>
            <a:endParaRPr lang="en-US" sz="1250" dirty="0"/>
          </a:p>
        </p:txBody>
      </p:sp>
      <p:sp>
        <p:nvSpPr>
          <p:cNvPr id="6" name="Shape 4"/>
          <p:cNvSpPr/>
          <p:nvPr/>
        </p:nvSpPr>
        <p:spPr>
          <a:xfrm>
            <a:off x="3429000" y="1325880"/>
            <a:ext cx="2651760" cy="1554480"/>
          </a:xfrm>
          <a:prstGeom prst="roundRect">
            <a:avLst>
              <a:gd name="adj" fmla="val 4706"/>
            </a:avLst>
          </a:prstGeom>
          <a:solidFill>
            <a:srgbClr val="EAF2FC"/>
          </a:solidFill>
          <a:ln/>
        </p:spPr>
      </p:sp>
      <p:sp>
        <p:nvSpPr>
          <p:cNvPr id="7" name="Text 5"/>
          <p:cNvSpPr/>
          <p:nvPr/>
        </p:nvSpPr>
        <p:spPr>
          <a:xfrm>
            <a:off x="3429000" y="1435608"/>
            <a:ext cx="2651760" cy="808330"/>
          </a:xfrm>
          <a:prstGeom prst="rect">
            <a:avLst/>
          </a:prstGeom>
          <a:noFill/>
          <a:ln/>
        </p:spPr>
        <p:txBody>
          <a:bodyPr wrap="square" lIns="0" tIns="0" rIns="0" bIns="0" rtlCol="0" anchor="ctr"/>
          <a:lstStyle/>
          <a:p>
            <a:pPr algn="ctr" indent="0" marL="0">
              <a:buNone/>
            </a:pPr>
            <a:r>
              <a:rPr lang="en-US" sz="4000" b="1" dirty="0">
                <a:solidFill>
                  <a:srgbClr val="2A78D6"/>
                </a:solidFill>
                <a:latin typeface="Calibri" pitchFamily="34" charset="0"/>
                <a:ea typeface="Calibri" pitchFamily="34" charset="-122"/>
                <a:cs typeface="Calibri" pitchFamily="34" charset="-120"/>
              </a:rPr>
              <a:t>22</a:t>
            </a:r>
            <a:endParaRPr lang="en-US" sz="4000" dirty="0"/>
          </a:p>
        </p:txBody>
      </p:sp>
      <p:sp>
        <p:nvSpPr>
          <p:cNvPr id="8" name="Text 6"/>
          <p:cNvSpPr/>
          <p:nvPr/>
        </p:nvSpPr>
        <p:spPr>
          <a:xfrm>
            <a:off x="3566160" y="2258568"/>
            <a:ext cx="2377440" cy="559613"/>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raw columns</a:t>
            </a:r>
            <a:endParaRPr lang="en-US" sz="1250" dirty="0"/>
          </a:p>
        </p:txBody>
      </p:sp>
      <p:sp>
        <p:nvSpPr>
          <p:cNvPr id="9" name="Shape 7"/>
          <p:cNvSpPr/>
          <p:nvPr/>
        </p:nvSpPr>
        <p:spPr>
          <a:xfrm>
            <a:off x="6309360" y="1325880"/>
            <a:ext cx="2651760" cy="1554480"/>
          </a:xfrm>
          <a:prstGeom prst="roundRect">
            <a:avLst>
              <a:gd name="adj" fmla="val 4706"/>
            </a:avLst>
          </a:prstGeom>
          <a:solidFill>
            <a:srgbClr val="FDEFE8"/>
          </a:solidFill>
          <a:ln/>
        </p:spPr>
      </p:sp>
      <p:sp>
        <p:nvSpPr>
          <p:cNvPr id="10" name="Text 8"/>
          <p:cNvSpPr/>
          <p:nvPr/>
        </p:nvSpPr>
        <p:spPr>
          <a:xfrm>
            <a:off x="6309360" y="1435608"/>
            <a:ext cx="2651760" cy="808330"/>
          </a:xfrm>
          <a:prstGeom prst="rect">
            <a:avLst/>
          </a:prstGeom>
          <a:noFill/>
          <a:ln/>
        </p:spPr>
        <p:txBody>
          <a:bodyPr wrap="square" lIns="0" tIns="0" rIns="0" bIns="0" rtlCol="0" anchor="ctr"/>
          <a:lstStyle/>
          <a:p>
            <a:pPr algn="ctr" indent="0" marL="0">
              <a:buNone/>
            </a:pPr>
            <a:r>
              <a:rPr lang="en-US" sz="4000" b="1" dirty="0">
                <a:solidFill>
                  <a:srgbClr val="EB6834"/>
                </a:solidFill>
                <a:latin typeface="Calibri" pitchFamily="34" charset="0"/>
                <a:ea typeface="Calibri" pitchFamily="34" charset="-122"/>
                <a:cs typeface="Calibri" pitchFamily="34" charset="-120"/>
              </a:rPr>
              <a:t>9%</a:t>
            </a:r>
            <a:endParaRPr lang="en-US" sz="4000" dirty="0"/>
          </a:p>
        </p:txBody>
      </p:sp>
      <p:sp>
        <p:nvSpPr>
          <p:cNvPr id="11" name="Text 9"/>
          <p:cNvSpPr/>
          <p:nvPr/>
        </p:nvSpPr>
        <p:spPr>
          <a:xfrm>
            <a:off x="6446520" y="2258568"/>
            <a:ext cx="2377440" cy="559613"/>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churn rate (imbalanced, like real life)</a:t>
            </a:r>
            <a:endParaRPr lang="en-US" sz="1250" dirty="0"/>
          </a:p>
        </p:txBody>
      </p:sp>
      <p:sp>
        <p:nvSpPr>
          <p:cNvPr id="12" name="Shape 10"/>
          <p:cNvSpPr/>
          <p:nvPr/>
        </p:nvSpPr>
        <p:spPr>
          <a:xfrm>
            <a:off x="9189720" y="1325880"/>
            <a:ext cx="2423160" cy="1554480"/>
          </a:xfrm>
          <a:prstGeom prst="roundRect">
            <a:avLst>
              <a:gd name="adj" fmla="val 4706"/>
            </a:avLst>
          </a:prstGeom>
          <a:solidFill>
            <a:srgbClr val="EAF2FC"/>
          </a:solidFill>
          <a:ln/>
        </p:spPr>
      </p:sp>
      <p:sp>
        <p:nvSpPr>
          <p:cNvPr id="13" name="Text 11"/>
          <p:cNvSpPr/>
          <p:nvPr/>
        </p:nvSpPr>
        <p:spPr>
          <a:xfrm>
            <a:off x="9189720" y="1435608"/>
            <a:ext cx="2423160" cy="808330"/>
          </a:xfrm>
          <a:prstGeom prst="rect">
            <a:avLst/>
          </a:prstGeom>
          <a:noFill/>
          <a:ln/>
        </p:spPr>
        <p:txBody>
          <a:bodyPr wrap="square" lIns="0" tIns="0" rIns="0" bIns="0" rtlCol="0" anchor="ctr"/>
          <a:lstStyle/>
          <a:p>
            <a:pPr algn="ctr" indent="0" marL="0">
              <a:buNone/>
            </a:pPr>
            <a:r>
              <a:rPr lang="en-US" sz="4000" b="1" dirty="0">
                <a:solidFill>
                  <a:srgbClr val="2A78D6"/>
                </a:solidFill>
                <a:latin typeface="Calibri" pitchFamily="34" charset="0"/>
                <a:ea typeface="Calibri" pitchFamily="34" charset="-122"/>
                <a:cs typeface="Calibri" pitchFamily="34" charset="-120"/>
              </a:rPr>
              <a:t>1.5%</a:t>
            </a:r>
            <a:endParaRPr lang="en-US" sz="4000" dirty="0"/>
          </a:p>
        </p:txBody>
      </p:sp>
      <p:sp>
        <p:nvSpPr>
          <p:cNvPr id="14" name="Text 12"/>
          <p:cNvSpPr/>
          <p:nvPr/>
        </p:nvSpPr>
        <p:spPr>
          <a:xfrm>
            <a:off x="9326880" y="2258568"/>
            <a:ext cx="2148840" cy="559613"/>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missing values + duplicate rows to clean</a:t>
            </a:r>
            <a:endParaRPr lang="en-US" sz="1250" dirty="0"/>
          </a:p>
        </p:txBody>
      </p:sp>
      <p:sp>
        <p:nvSpPr>
          <p:cNvPr id="15" name="Text 13"/>
          <p:cNvSpPr/>
          <p:nvPr/>
        </p:nvSpPr>
        <p:spPr>
          <a:xfrm>
            <a:off x="548640" y="3246120"/>
            <a:ext cx="2011680" cy="54864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Account</a:t>
            </a:r>
            <a:endParaRPr lang="en-US" sz="1400" dirty="0"/>
          </a:p>
        </p:txBody>
      </p:sp>
      <p:sp>
        <p:nvSpPr>
          <p:cNvPr id="16" name="Text 14"/>
          <p:cNvSpPr/>
          <p:nvPr/>
        </p:nvSpPr>
        <p:spPr>
          <a:xfrm>
            <a:off x="2651760" y="3246120"/>
            <a:ext cx="8961120" cy="54864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pet type · number of pets · region · tenure · Autoship plan</a:t>
            </a:r>
            <a:endParaRPr lang="en-US" sz="1300" dirty="0"/>
          </a:p>
        </p:txBody>
      </p:sp>
      <p:sp>
        <p:nvSpPr>
          <p:cNvPr id="17" name="Text 15"/>
          <p:cNvSpPr/>
          <p:nvPr/>
        </p:nvSpPr>
        <p:spPr>
          <a:xfrm>
            <a:off x="548640" y="3959352"/>
            <a:ext cx="2011680" cy="54864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Purchasing</a:t>
            </a:r>
            <a:endParaRPr lang="en-US" sz="1400" dirty="0"/>
          </a:p>
        </p:txBody>
      </p:sp>
      <p:sp>
        <p:nvSpPr>
          <p:cNvPr id="18" name="Text 16"/>
          <p:cNvSpPr/>
          <p:nvPr/>
        </p:nvSpPr>
        <p:spPr>
          <a:xfrm>
            <a:off x="2651760" y="3959352"/>
            <a:ext cx="8961120" cy="54864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orders/quarter · avg order value · 12-mo spend · days since last order · pharmacy share</a:t>
            </a:r>
            <a:endParaRPr lang="en-US" sz="1300" dirty="0"/>
          </a:p>
        </p:txBody>
      </p:sp>
      <p:sp>
        <p:nvSpPr>
          <p:cNvPr id="19" name="Text 17"/>
          <p:cNvSpPr/>
          <p:nvPr/>
        </p:nvSpPr>
        <p:spPr>
          <a:xfrm>
            <a:off x="548640" y="4672584"/>
            <a:ext cx="2011680" cy="54864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Engagement</a:t>
            </a:r>
            <a:endParaRPr lang="en-US" sz="1400" dirty="0"/>
          </a:p>
        </p:txBody>
      </p:sp>
      <p:sp>
        <p:nvSpPr>
          <p:cNvPr id="20" name="Text 18"/>
          <p:cNvSpPr/>
          <p:nvPr/>
        </p:nvSpPr>
        <p:spPr>
          <a:xfrm>
            <a:off x="2651760" y="4672584"/>
            <a:ext cx="8961120" cy="54864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app sessions · email open rate · promo usage</a:t>
            </a:r>
            <a:endParaRPr lang="en-US" sz="1300" dirty="0"/>
          </a:p>
        </p:txBody>
      </p:sp>
      <p:sp>
        <p:nvSpPr>
          <p:cNvPr id="21" name="Text 19"/>
          <p:cNvSpPr/>
          <p:nvPr/>
        </p:nvSpPr>
        <p:spPr>
          <a:xfrm>
            <a:off x="548640" y="5385816"/>
            <a:ext cx="2011680" cy="54864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Service</a:t>
            </a:r>
            <a:endParaRPr lang="en-US" sz="1400" dirty="0"/>
          </a:p>
        </p:txBody>
      </p:sp>
      <p:sp>
        <p:nvSpPr>
          <p:cNvPr id="22" name="Text 20"/>
          <p:cNvSpPr/>
          <p:nvPr/>
        </p:nvSpPr>
        <p:spPr>
          <a:xfrm>
            <a:off x="2651760" y="5385816"/>
            <a:ext cx="8961120" cy="54864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support tickets · unresolved tickets · refunds · delivery speed · price-increase exposure</a:t>
            </a:r>
            <a:endParaRPr lang="en-US" sz="1300" dirty="0"/>
          </a:p>
        </p:txBody>
      </p:sp>
      <p:sp>
        <p:nvSpPr>
          <p:cNvPr id="23" name="Text 21"/>
          <p:cNvSpPr/>
          <p:nvPr/>
        </p:nvSpPr>
        <p:spPr>
          <a:xfrm>
            <a:off x="548640" y="6035040"/>
            <a:ext cx="11064240" cy="365760"/>
          </a:xfrm>
          <a:prstGeom prst="rect">
            <a:avLst/>
          </a:prstGeom>
          <a:noFill/>
          <a:ln/>
        </p:spPr>
        <p:txBody>
          <a:bodyPr wrap="square"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Churn label generated causally: Autoship, tenure, pharmacy → protect · silence, unresolved tickets, refunds, price hikes → destroy</a:t>
            </a:r>
            <a:endParaRPr lang="en-US" sz="1200" dirty="0"/>
          </a:p>
        </p:txBody>
      </p:sp>
      <p:sp>
        <p:nvSpPr>
          <p:cNvPr id="24" name="Text 22"/>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Data engineering with PySpark — cluster-scale by design</a:t>
            </a:r>
            <a:endParaRPr lang="en-US" sz="3200" dirty="0"/>
          </a:p>
        </p:txBody>
      </p:sp>
      <p:sp>
        <p:nvSpPr>
          <p:cNvPr id="3" name="Shape 1"/>
          <p:cNvSpPr/>
          <p:nvPr/>
        </p:nvSpPr>
        <p:spPr>
          <a:xfrm>
            <a:off x="548640" y="1325880"/>
            <a:ext cx="5760720" cy="804672"/>
          </a:xfrm>
          <a:prstGeom prst="roundRect">
            <a:avLst>
              <a:gd name="adj" fmla="val 6818"/>
            </a:avLst>
          </a:prstGeom>
          <a:solidFill>
            <a:srgbClr val="EAF2FC"/>
          </a:solidFill>
          <a:ln/>
        </p:spPr>
      </p:sp>
      <p:sp>
        <p:nvSpPr>
          <p:cNvPr id="4" name="Text 2"/>
          <p:cNvSpPr/>
          <p:nvPr/>
        </p:nvSpPr>
        <p:spPr>
          <a:xfrm>
            <a:off x="777240" y="1399032"/>
            <a:ext cx="5394960" cy="32004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Load &amp; schema</a:t>
            </a:r>
            <a:endParaRPr lang="en-US" sz="1400" dirty="0"/>
          </a:p>
        </p:txBody>
      </p:sp>
      <p:sp>
        <p:nvSpPr>
          <p:cNvPr id="5" name="Text 3"/>
          <p:cNvSpPr/>
          <p:nvPr/>
        </p:nvSpPr>
        <p:spPr>
          <a:xfrm>
            <a:off x="777240" y="1709928"/>
            <a:ext cx="5394960" cy="3657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CSV → Spark DataFrame with schema inference   </a:t>
            </a:r>
            <a:pPr indent="0" marL="0">
              <a:buNone/>
            </a:pPr>
            <a:r>
              <a:rPr lang="en-US" sz="1050" dirty="0">
                <a:solidFill>
                  <a:srgbClr val="2A78D6"/>
                </a:solidFill>
                <a:latin typeface="Courier New" pitchFamily="34" charset="0"/>
                <a:ea typeface="Courier New" pitchFamily="34" charset="-122"/>
                <a:cs typeface="Courier New" pitchFamily="34" charset="-120"/>
              </a:rPr>
              <a:t>spark.read.csv(...)</a:t>
            </a:r>
            <a:endParaRPr lang="en-US" sz="1150" dirty="0"/>
          </a:p>
        </p:txBody>
      </p:sp>
      <p:sp>
        <p:nvSpPr>
          <p:cNvPr id="6" name="Shape 4"/>
          <p:cNvSpPr/>
          <p:nvPr/>
        </p:nvSpPr>
        <p:spPr>
          <a:xfrm>
            <a:off x="548640" y="2258568"/>
            <a:ext cx="5760720" cy="804672"/>
          </a:xfrm>
          <a:prstGeom prst="roundRect">
            <a:avLst>
              <a:gd name="adj" fmla="val 6818"/>
            </a:avLst>
          </a:prstGeom>
          <a:solidFill>
            <a:srgbClr val="EAF2FC"/>
          </a:solidFill>
          <a:ln/>
        </p:spPr>
      </p:sp>
      <p:sp>
        <p:nvSpPr>
          <p:cNvPr id="7" name="Text 5"/>
          <p:cNvSpPr/>
          <p:nvPr/>
        </p:nvSpPr>
        <p:spPr>
          <a:xfrm>
            <a:off x="777240" y="2331720"/>
            <a:ext cx="5394960" cy="32004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Clean</a:t>
            </a:r>
            <a:endParaRPr lang="en-US" sz="1400" dirty="0"/>
          </a:p>
        </p:txBody>
      </p:sp>
      <p:sp>
        <p:nvSpPr>
          <p:cNvPr id="8" name="Text 6"/>
          <p:cNvSpPr/>
          <p:nvPr/>
        </p:nvSpPr>
        <p:spPr>
          <a:xfrm>
            <a:off x="777240" y="2642616"/>
            <a:ext cx="5394960" cy="3657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drop duplicate customers; median-impute 3 columns   </a:t>
            </a:r>
            <a:pPr indent="0" marL="0">
              <a:buNone/>
            </a:pPr>
            <a:r>
              <a:rPr lang="en-US" sz="1050" dirty="0">
                <a:solidFill>
                  <a:srgbClr val="2A78D6"/>
                </a:solidFill>
                <a:latin typeface="Courier New" pitchFamily="34" charset="0"/>
                <a:ea typeface="Courier New" pitchFamily="34" charset="-122"/>
                <a:cs typeface="Courier New" pitchFamily="34" charset="-120"/>
              </a:rPr>
              <a:t>dropDuplicates · approxQuantile</a:t>
            </a:r>
            <a:endParaRPr lang="en-US" sz="1150" dirty="0"/>
          </a:p>
        </p:txBody>
      </p:sp>
      <p:sp>
        <p:nvSpPr>
          <p:cNvPr id="9" name="Shape 7"/>
          <p:cNvSpPr/>
          <p:nvPr/>
        </p:nvSpPr>
        <p:spPr>
          <a:xfrm>
            <a:off x="548640" y="3191256"/>
            <a:ext cx="5760720" cy="804672"/>
          </a:xfrm>
          <a:prstGeom prst="roundRect">
            <a:avLst>
              <a:gd name="adj" fmla="val 6818"/>
            </a:avLst>
          </a:prstGeom>
          <a:solidFill>
            <a:srgbClr val="FDEFE8"/>
          </a:solidFill>
          <a:ln/>
        </p:spPr>
      </p:sp>
      <p:sp>
        <p:nvSpPr>
          <p:cNvPr id="10" name="Text 8"/>
          <p:cNvSpPr/>
          <p:nvPr/>
        </p:nvSpPr>
        <p:spPr>
          <a:xfrm>
            <a:off x="777240" y="3264408"/>
            <a:ext cx="5394960" cy="32004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Engineer features</a:t>
            </a:r>
            <a:endParaRPr lang="en-US" sz="1400" dirty="0"/>
          </a:p>
        </p:txBody>
      </p:sp>
      <p:sp>
        <p:nvSpPr>
          <p:cNvPr id="11" name="Text 9"/>
          <p:cNvSpPr/>
          <p:nvPr/>
        </p:nvSpPr>
        <p:spPr>
          <a:xfrm>
            <a:off x="777240" y="3575304"/>
            <a:ext cx="5394960" cy="3657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4 new signals via Spark SQL expressions   </a:t>
            </a:r>
            <a:pPr indent="0" marL="0">
              <a:buNone/>
            </a:pPr>
            <a:r>
              <a:rPr lang="en-US" sz="1050" dirty="0">
                <a:solidFill>
                  <a:srgbClr val="2A78D6"/>
                </a:solidFill>
                <a:latin typeface="Courier New" pitchFamily="34" charset="0"/>
                <a:ea typeface="Courier New" pitchFamily="34" charset="-122"/>
                <a:cs typeface="Courier New" pitchFamily="34" charset="-120"/>
              </a:rPr>
              <a:t>withColumn(...)</a:t>
            </a:r>
            <a:endParaRPr lang="en-US" sz="1150" dirty="0"/>
          </a:p>
        </p:txBody>
      </p:sp>
      <p:sp>
        <p:nvSpPr>
          <p:cNvPr id="12" name="Shape 10"/>
          <p:cNvSpPr/>
          <p:nvPr/>
        </p:nvSpPr>
        <p:spPr>
          <a:xfrm>
            <a:off x="548640" y="4123944"/>
            <a:ext cx="5760720" cy="804672"/>
          </a:xfrm>
          <a:prstGeom prst="roundRect">
            <a:avLst>
              <a:gd name="adj" fmla="val 6818"/>
            </a:avLst>
          </a:prstGeom>
          <a:solidFill>
            <a:srgbClr val="EAF2FC"/>
          </a:solidFill>
          <a:ln/>
        </p:spPr>
      </p:sp>
      <p:sp>
        <p:nvSpPr>
          <p:cNvPr id="13" name="Text 11"/>
          <p:cNvSpPr/>
          <p:nvPr/>
        </p:nvSpPr>
        <p:spPr>
          <a:xfrm>
            <a:off x="777240" y="4197096"/>
            <a:ext cx="5394960" cy="32004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Aggregate &amp; save</a:t>
            </a:r>
            <a:endParaRPr lang="en-US" sz="1400" dirty="0"/>
          </a:p>
        </p:txBody>
      </p:sp>
      <p:sp>
        <p:nvSpPr>
          <p:cNvPr id="14" name="Text 12"/>
          <p:cNvSpPr/>
          <p:nvPr/>
        </p:nvSpPr>
        <p:spPr>
          <a:xfrm>
            <a:off x="777240" y="4507992"/>
            <a:ext cx="5394960" cy="3657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churn by segment, distributed; write Parquet   </a:t>
            </a:r>
            <a:pPr indent="0" marL="0">
              <a:buNone/>
            </a:pPr>
            <a:r>
              <a:rPr lang="en-US" sz="1050" dirty="0">
                <a:solidFill>
                  <a:srgbClr val="2A78D6"/>
                </a:solidFill>
                <a:latin typeface="Courier New" pitchFamily="34" charset="0"/>
                <a:ea typeface="Courier New" pitchFamily="34" charset="-122"/>
                <a:cs typeface="Courier New" pitchFamily="34" charset="-120"/>
              </a:rPr>
              <a:t>groupBy · write.parquet</a:t>
            </a:r>
            <a:endParaRPr lang="en-US" sz="1150" dirty="0"/>
          </a:p>
        </p:txBody>
      </p:sp>
      <p:sp>
        <p:nvSpPr>
          <p:cNvPr id="15" name="Text 13"/>
          <p:cNvSpPr/>
          <p:nvPr/>
        </p:nvSpPr>
        <p:spPr>
          <a:xfrm>
            <a:off x="6720840" y="1325880"/>
            <a:ext cx="4892040" cy="365760"/>
          </a:xfrm>
          <a:prstGeom prst="rect">
            <a:avLst/>
          </a:prstGeom>
          <a:noFill/>
          <a:ln/>
        </p:spPr>
        <p:txBody>
          <a:bodyPr wrap="square" lIns="0" tIns="0" rIns="0" bIns="0" rtlCol="0" anchor="ctr"/>
          <a:lstStyle/>
          <a:p>
            <a:pPr indent="0" marL="0">
              <a:buNone/>
            </a:pPr>
            <a:r>
              <a:rPr lang="en-US" sz="1600" b="1" dirty="0">
                <a:solidFill>
                  <a:srgbClr val="0B0B0B"/>
                </a:solidFill>
                <a:latin typeface="Calibri" pitchFamily="34" charset="0"/>
                <a:ea typeface="Calibri" pitchFamily="34" charset="-122"/>
                <a:cs typeface="Calibri" pitchFamily="34" charset="-120"/>
              </a:rPr>
              <a:t>The engineered features</a:t>
            </a:r>
            <a:endParaRPr lang="en-US" sz="1600" dirty="0"/>
          </a:p>
        </p:txBody>
      </p:sp>
      <p:sp>
        <p:nvSpPr>
          <p:cNvPr id="16" name="Text 14"/>
          <p:cNvSpPr/>
          <p:nvPr/>
        </p:nvSpPr>
        <p:spPr>
          <a:xfrm>
            <a:off x="6720840" y="1828800"/>
            <a:ext cx="4892040" cy="320040"/>
          </a:xfrm>
          <a:prstGeom prst="rect">
            <a:avLst/>
          </a:prstGeom>
          <a:noFill/>
          <a:ln/>
        </p:spPr>
        <p:txBody>
          <a:bodyPr wrap="square" lIns="0" tIns="0" rIns="0" bIns="0" rtlCol="0" anchor="ctr"/>
          <a:lstStyle/>
          <a:p>
            <a:pPr indent="0" marL="0">
              <a:buNone/>
            </a:pPr>
            <a:r>
              <a:rPr lang="en-US" sz="1300" b="1" dirty="0">
                <a:solidFill>
                  <a:srgbClr val="EB6834"/>
                </a:solidFill>
                <a:latin typeface="Courier New" pitchFamily="34" charset="0"/>
                <a:ea typeface="Courier New" pitchFamily="34" charset="-122"/>
                <a:cs typeface="Courier New" pitchFamily="34" charset="-120"/>
              </a:rPr>
              <a:t>order_gap_ratio</a:t>
            </a:r>
            <a:endParaRPr lang="en-US" sz="1300" dirty="0"/>
          </a:p>
        </p:txBody>
      </p:sp>
      <p:sp>
        <p:nvSpPr>
          <p:cNvPr id="17" name="Text 15"/>
          <p:cNvSpPr/>
          <p:nvPr/>
        </p:nvSpPr>
        <p:spPr>
          <a:xfrm>
            <a:off x="6720840" y="2139696"/>
            <a:ext cx="489204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silence relative to the customer's own cadence — the killer feature</a:t>
            </a:r>
            <a:endParaRPr lang="en-US" sz="1200" dirty="0"/>
          </a:p>
        </p:txBody>
      </p:sp>
      <p:sp>
        <p:nvSpPr>
          <p:cNvPr id="18" name="Text 16"/>
          <p:cNvSpPr/>
          <p:nvPr/>
        </p:nvSpPr>
        <p:spPr>
          <a:xfrm>
            <a:off x="6720840" y="2697480"/>
            <a:ext cx="4892040" cy="320040"/>
          </a:xfrm>
          <a:prstGeom prst="rect">
            <a:avLst/>
          </a:prstGeom>
          <a:noFill/>
          <a:ln/>
        </p:spPr>
        <p:txBody>
          <a:bodyPr wrap="square" lIns="0" tIns="0" rIns="0" bIns="0" rtlCol="0" anchor="ctr"/>
          <a:lstStyle/>
          <a:p>
            <a:pPr indent="0" marL="0">
              <a:buNone/>
            </a:pPr>
            <a:r>
              <a:rPr lang="en-US" sz="1300" b="1" dirty="0">
                <a:solidFill>
                  <a:srgbClr val="EB6834"/>
                </a:solidFill>
                <a:latin typeface="Courier New" pitchFamily="34" charset="0"/>
                <a:ea typeface="Courier New" pitchFamily="34" charset="-122"/>
                <a:cs typeface="Courier New" pitchFamily="34" charset="-120"/>
              </a:rPr>
              <a:t>spend_per_pet</a:t>
            </a:r>
            <a:endParaRPr lang="en-US" sz="1300" dirty="0"/>
          </a:p>
        </p:txBody>
      </p:sp>
      <p:sp>
        <p:nvSpPr>
          <p:cNvPr id="19" name="Text 17"/>
          <p:cNvSpPr/>
          <p:nvPr/>
        </p:nvSpPr>
        <p:spPr>
          <a:xfrm>
            <a:off x="6720840" y="3008376"/>
            <a:ext cx="489204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spend intensity per animal</a:t>
            </a:r>
            <a:endParaRPr lang="en-US" sz="1200" dirty="0"/>
          </a:p>
        </p:txBody>
      </p:sp>
      <p:sp>
        <p:nvSpPr>
          <p:cNvPr id="20" name="Text 18"/>
          <p:cNvSpPr/>
          <p:nvPr/>
        </p:nvSpPr>
        <p:spPr>
          <a:xfrm>
            <a:off x="6720840" y="3566160"/>
            <a:ext cx="4892040" cy="320040"/>
          </a:xfrm>
          <a:prstGeom prst="rect">
            <a:avLst/>
          </a:prstGeom>
          <a:noFill/>
          <a:ln/>
        </p:spPr>
        <p:txBody>
          <a:bodyPr wrap="square" lIns="0" tIns="0" rIns="0" bIns="0" rtlCol="0" anchor="ctr"/>
          <a:lstStyle/>
          <a:p>
            <a:pPr indent="0" marL="0">
              <a:buNone/>
            </a:pPr>
            <a:r>
              <a:rPr lang="en-US" sz="1300" b="1" dirty="0">
                <a:solidFill>
                  <a:srgbClr val="EB6834"/>
                </a:solidFill>
                <a:latin typeface="Courier New" pitchFamily="34" charset="0"/>
                <a:ea typeface="Courier New" pitchFamily="34" charset="-122"/>
                <a:cs typeface="Courier New" pitchFamily="34" charset="-120"/>
              </a:rPr>
              <a:t>engagement_score</a:t>
            </a:r>
            <a:endParaRPr lang="en-US" sz="1300" dirty="0"/>
          </a:p>
        </p:txBody>
      </p:sp>
      <p:sp>
        <p:nvSpPr>
          <p:cNvPr id="21" name="Text 19"/>
          <p:cNvSpPr/>
          <p:nvPr/>
        </p:nvSpPr>
        <p:spPr>
          <a:xfrm>
            <a:off x="6720840" y="3877056"/>
            <a:ext cx="489204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app + email engagement combined</a:t>
            </a:r>
            <a:endParaRPr lang="en-US" sz="1200" dirty="0"/>
          </a:p>
        </p:txBody>
      </p:sp>
      <p:sp>
        <p:nvSpPr>
          <p:cNvPr id="22" name="Text 20"/>
          <p:cNvSpPr/>
          <p:nvPr/>
        </p:nvSpPr>
        <p:spPr>
          <a:xfrm>
            <a:off x="6720840" y="4434840"/>
            <a:ext cx="4892040" cy="320040"/>
          </a:xfrm>
          <a:prstGeom prst="rect">
            <a:avLst/>
          </a:prstGeom>
          <a:noFill/>
          <a:ln/>
        </p:spPr>
        <p:txBody>
          <a:bodyPr wrap="square" lIns="0" tIns="0" rIns="0" bIns="0" rtlCol="0" anchor="ctr"/>
          <a:lstStyle/>
          <a:p>
            <a:pPr indent="0" marL="0">
              <a:buNone/>
            </a:pPr>
            <a:r>
              <a:rPr lang="en-US" sz="1300" b="1" dirty="0">
                <a:solidFill>
                  <a:srgbClr val="EB6834"/>
                </a:solidFill>
                <a:latin typeface="Courier New" pitchFamily="34" charset="0"/>
                <a:ea typeface="Courier New" pitchFamily="34" charset="-122"/>
                <a:cs typeface="Courier New" pitchFamily="34" charset="-120"/>
              </a:rPr>
              <a:t>service_friction</a:t>
            </a:r>
            <a:endParaRPr lang="en-US" sz="1300" dirty="0"/>
          </a:p>
        </p:txBody>
      </p:sp>
      <p:sp>
        <p:nvSpPr>
          <p:cNvPr id="23" name="Text 21"/>
          <p:cNvSpPr/>
          <p:nvPr/>
        </p:nvSpPr>
        <p:spPr>
          <a:xfrm>
            <a:off x="6720840" y="4745736"/>
            <a:ext cx="489204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unresolved tickets + refunds + slow delivery</a:t>
            </a:r>
            <a:endParaRPr lang="en-US" sz="1200" dirty="0"/>
          </a:p>
        </p:txBody>
      </p:sp>
      <p:sp>
        <p:nvSpPr>
          <p:cNvPr id="24" name="Text 22"/>
          <p:cNvSpPr/>
          <p:nvPr/>
        </p:nvSpPr>
        <p:spPr>
          <a:xfrm>
            <a:off x="548640" y="5394960"/>
            <a:ext cx="11064240" cy="457200"/>
          </a:xfrm>
          <a:prstGeom prst="rect">
            <a:avLst/>
          </a:prstGeom>
          <a:noFill/>
          <a:ln/>
        </p:spPr>
        <p:txBody>
          <a:bodyPr wrap="square" rtlCol="0" anchor="ctr"/>
          <a:lstStyle/>
          <a:p>
            <a:pPr indent="0" marL="0">
              <a:buNone/>
            </a:pPr>
            <a:r>
              <a:rPr lang="en-US" sz="1350" b="1" i="1" dirty="0">
                <a:solidFill>
                  <a:srgbClr val="2A78D6"/>
                </a:solidFill>
                <a:latin typeface="Calibri" pitchFamily="34" charset="0"/>
                <a:ea typeface="Calibri" pitchFamily="34" charset="-122"/>
                <a:cs typeface="Calibri" pitchFamily="34" charset="-120"/>
              </a:rPr>
              <a:t>Same code scales from 50K rows to Chewy's real ~20M customers — only the cluster config changes.</a:t>
            </a:r>
            <a:endParaRPr lang="en-US" sz="1350" dirty="0"/>
          </a:p>
        </p:txBody>
      </p:sp>
      <p:sp>
        <p:nvSpPr>
          <p:cNvPr id="25" name="Text 23"/>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Finding 1 &amp; 2 — Autoship protects; new customers are fragile</a:t>
            </a:r>
            <a:endParaRPr lang="en-US" sz="3200" dirty="0"/>
          </a:p>
        </p:txBody>
      </p:sp>
      <p:pic>
        <p:nvPicPr>
          <p:cNvPr id="3" name="Image 0" descr="../figures/churn_by_plan.png">    </p:cNvPr>
          <p:cNvPicPr>
            <a:picLocks noChangeAspect="1"/>
          </p:cNvPicPr>
          <p:nvPr/>
        </p:nvPicPr>
        <p:blipFill>
          <a:blip r:embed="rId1"/>
          <a:stretch>
            <a:fillRect/>
          </a:stretch>
        </p:blipFill>
        <p:spPr>
          <a:xfrm>
            <a:off x="548640" y="1371600"/>
            <a:ext cx="5577840" cy="3191256"/>
          </a:xfrm>
          <a:prstGeom prst="rect">
            <a:avLst/>
          </a:prstGeom>
        </p:spPr>
      </p:pic>
      <p:pic>
        <p:nvPicPr>
          <p:cNvPr id="4" name="Image 1" descr="../figures/churn_by_tenure.png">    </p:cNvPr>
          <p:cNvPicPr>
            <a:picLocks noChangeAspect="1"/>
          </p:cNvPicPr>
          <p:nvPr/>
        </p:nvPicPr>
        <p:blipFill>
          <a:blip r:embed="rId2"/>
          <a:stretch>
            <a:fillRect/>
          </a:stretch>
        </p:blipFill>
        <p:spPr>
          <a:xfrm>
            <a:off x="6355080" y="1371600"/>
            <a:ext cx="5577840" cy="3191256"/>
          </a:xfrm>
          <a:prstGeom prst="rect">
            <a:avLst/>
          </a:prstGeom>
        </p:spPr>
      </p:pic>
      <p:sp>
        <p:nvSpPr>
          <p:cNvPr id="5" name="Text 1"/>
          <p:cNvSpPr/>
          <p:nvPr/>
        </p:nvSpPr>
        <p:spPr>
          <a:xfrm>
            <a:off x="548640" y="4892040"/>
            <a:ext cx="11064240" cy="1097280"/>
          </a:xfrm>
          <a:prstGeom prst="rect">
            <a:avLst/>
          </a:prstGeom>
          <a:noFill/>
          <a:ln/>
        </p:spPr>
        <p:txBody>
          <a:bodyPr wrap="square" rtlCol="0" anchor="t"/>
          <a:lstStyle/>
          <a:p>
            <a:pPr indent="0" marL="0">
              <a:buNone/>
            </a:pPr>
            <a:r>
              <a:rPr lang="en-US" sz="1500" b="1" dirty="0">
                <a:solidFill>
                  <a:srgbClr val="0B0B0B"/>
                </a:solidFill>
                <a:latin typeface="Calibri" pitchFamily="34" charset="0"/>
                <a:ea typeface="Calibri" pitchFamily="34" charset="-122"/>
                <a:cs typeface="Calibri" pitchFamily="34" charset="-120"/>
              </a:rPr>
              <a:t>Non-subscribers churn at ~4× the rate of Autoship members — Autoship conversion is retention lever #1.  </a:t>
            </a:r>
            <a:pPr indent="0" marL="0">
              <a:buNone/>
            </a:pPr>
            <a:r>
              <a:rPr lang="en-US" sz="1500" dirty="0">
                <a:solidFill>
                  <a:srgbClr val="0B0B0B"/>
                </a:solidFill>
                <a:latin typeface="Calibri" pitchFamily="34" charset="0"/>
                <a:ea typeface="Calibri" pitchFamily="34" charset="-122"/>
                <a:cs typeface="Calibri" pitchFamily="34" charset="-120"/>
              </a:rPr>
              <a:t>And churn risk is front-loaded: the first six months decide the relationship — onboarding matters.</a:t>
            </a:r>
            <a:endParaRPr lang="en-US" sz="1500" dirty="0"/>
          </a:p>
        </p:txBody>
      </p:sp>
      <p:sp>
        <p:nvSpPr>
          <p:cNvPr id="6" name="Text 2"/>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Finding 3 &amp; 4 — silence predicts goodbye; service failures compound</a:t>
            </a:r>
            <a:endParaRPr lang="en-US" sz="3200" dirty="0"/>
          </a:p>
        </p:txBody>
      </p:sp>
      <p:pic>
        <p:nvPicPr>
          <p:cNvPr id="3" name="Image 0" descr="../figures/recency_distribution.png">    </p:cNvPr>
          <p:cNvPicPr>
            <a:picLocks noChangeAspect="1"/>
          </p:cNvPicPr>
          <p:nvPr/>
        </p:nvPicPr>
        <p:blipFill>
          <a:blip r:embed="rId1"/>
          <a:stretch>
            <a:fillRect/>
          </a:stretch>
        </p:blipFill>
        <p:spPr>
          <a:xfrm>
            <a:off x="548640" y="1371600"/>
            <a:ext cx="5577840" cy="3191256"/>
          </a:xfrm>
          <a:prstGeom prst="rect">
            <a:avLst/>
          </a:prstGeom>
        </p:spPr>
      </p:pic>
      <p:pic>
        <p:nvPicPr>
          <p:cNvPr id="4" name="Image 1" descr="../figures/churn_by_tickets.png">    </p:cNvPr>
          <p:cNvPicPr>
            <a:picLocks noChangeAspect="1"/>
          </p:cNvPicPr>
          <p:nvPr/>
        </p:nvPicPr>
        <p:blipFill>
          <a:blip r:embed="rId2"/>
          <a:stretch>
            <a:fillRect/>
          </a:stretch>
        </p:blipFill>
        <p:spPr>
          <a:xfrm>
            <a:off x="6355080" y="1371600"/>
            <a:ext cx="5577840" cy="3191256"/>
          </a:xfrm>
          <a:prstGeom prst="rect">
            <a:avLst/>
          </a:prstGeom>
        </p:spPr>
      </p:pic>
      <p:sp>
        <p:nvSpPr>
          <p:cNvPr id="5" name="Text 1"/>
          <p:cNvSpPr/>
          <p:nvPr/>
        </p:nvSpPr>
        <p:spPr>
          <a:xfrm>
            <a:off x="548640" y="4892040"/>
            <a:ext cx="11064240" cy="1097280"/>
          </a:xfrm>
          <a:prstGeom prst="rect">
            <a:avLst/>
          </a:prstGeom>
          <a:noFill/>
          <a:ln/>
        </p:spPr>
        <p:txBody>
          <a:bodyPr wrap="square" rtlCol="0" anchor="t"/>
          <a:lstStyle/>
          <a:p>
            <a:pPr indent="0" marL="0">
              <a:buNone/>
            </a:pPr>
            <a:r>
              <a:rPr lang="en-US" sz="1500" b="1" dirty="0">
                <a:solidFill>
                  <a:srgbClr val="0B0B0B"/>
                </a:solidFill>
                <a:latin typeface="Calibri" pitchFamily="34" charset="0"/>
                <a:ea typeface="Calibri" pitchFamily="34" charset="-122"/>
                <a:cs typeface="Calibri" pitchFamily="34" charset="-120"/>
              </a:rPr>
              <a:t>Churners go quiet long before they cancel — recency is the strongest single warning signal.  </a:t>
            </a:r>
            <a:pPr indent="0" marL="0">
              <a:buNone/>
            </a:pPr>
            <a:r>
              <a:rPr lang="en-US" sz="1500" dirty="0">
                <a:solidFill>
                  <a:srgbClr val="0B0B0B"/>
                </a:solidFill>
                <a:latin typeface="Calibri" pitchFamily="34" charset="0"/>
                <a:ea typeface="Calibri" pitchFamily="34" charset="-122"/>
                <a:cs typeface="Calibri" pitchFamily="34" charset="-120"/>
              </a:rPr>
              <a:t>And every unresolved support ticket multiplies churn risk: proactive service recovery is retention spending in disguise.</a:t>
            </a:r>
            <a:endParaRPr lang="en-US" sz="1500" dirty="0"/>
          </a:p>
        </p:txBody>
      </p:sp>
      <p:sp>
        <p:nvSpPr>
          <p:cNvPr id="6" name="Text 2"/>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One architecture, two frameworks: PyTorch vs TensorFlow</a:t>
            </a:r>
            <a:endParaRPr lang="en-US" sz="3200" dirty="0"/>
          </a:p>
        </p:txBody>
      </p:sp>
      <p:sp>
        <p:nvSpPr>
          <p:cNvPr id="3" name="Shape 1"/>
          <p:cNvSpPr/>
          <p:nvPr/>
        </p:nvSpPr>
        <p:spPr>
          <a:xfrm>
            <a:off x="548640" y="1325880"/>
            <a:ext cx="5440680" cy="4023360"/>
          </a:xfrm>
          <a:prstGeom prst="roundRect">
            <a:avLst>
              <a:gd name="adj" fmla="val 1818"/>
            </a:avLst>
          </a:prstGeom>
          <a:solidFill>
            <a:srgbClr val="EAF2FC"/>
          </a:solidFill>
          <a:ln/>
        </p:spPr>
      </p:sp>
      <p:sp>
        <p:nvSpPr>
          <p:cNvPr id="4" name="Text 2"/>
          <p:cNvSpPr/>
          <p:nvPr/>
        </p:nvSpPr>
        <p:spPr>
          <a:xfrm>
            <a:off x="822960" y="1508760"/>
            <a:ext cx="4937760" cy="457200"/>
          </a:xfrm>
          <a:prstGeom prst="rect">
            <a:avLst/>
          </a:prstGeom>
          <a:noFill/>
          <a:ln/>
        </p:spPr>
        <p:txBody>
          <a:bodyPr wrap="square" lIns="0" tIns="0" rIns="0" bIns="0" rtlCol="0" anchor="ctr"/>
          <a:lstStyle/>
          <a:p>
            <a:pPr indent="0" marL="0">
              <a:buNone/>
            </a:pPr>
            <a:r>
              <a:rPr lang="en-US" sz="2000" b="1" dirty="0">
                <a:solidFill>
                  <a:srgbClr val="2A78D6"/>
                </a:solidFill>
                <a:latin typeface="Calibri" pitchFamily="34" charset="0"/>
                <a:ea typeface="Calibri" pitchFamily="34" charset="-122"/>
                <a:cs typeface="Calibri" pitchFamily="34" charset="-120"/>
              </a:rPr>
              <a:t>PyTorch 🔥</a:t>
            </a:r>
            <a:endParaRPr lang="en-US" sz="2000" dirty="0"/>
          </a:p>
        </p:txBody>
      </p:sp>
      <p:sp>
        <p:nvSpPr>
          <p:cNvPr id="5" name="Text 3"/>
          <p:cNvSpPr/>
          <p:nvPr/>
        </p:nvSpPr>
        <p:spPr>
          <a:xfrm>
            <a:off x="822960" y="2103120"/>
            <a:ext cx="4937760" cy="3017520"/>
          </a:xfrm>
          <a:prstGeom prst="rect">
            <a:avLst/>
          </a:prstGeom>
          <a:noFill/>
          <a:ln/>
        </p:spPr>
        <p:txBody>
          <a:bodyPr wrap="square" rtlCol="0" anchor="t"/>
          <a:lstStyle/>
          <a:p>
            <a:pPr marL="342900" indent="-342900">
              <a:spcAft>
                <a:spcPts val="800"/>
              </a:spcAft>
              <a:buSzPct val="100000"/>
              <a:buChar char="•"/>
            </a:pPr>
            <a:r>
              <a:rPr lang="en-US" sz="1350" dirty="0">
                <a:solidFill>
                  <a:srgbClr val="0B0B0B"/>
                </a:solidFill>
                <a:latin typeface="Calibri" pitchFamily="34" charset="0"/>
                <a:ea typeface="Calibri" pitchFamily="34" charset="-122"/>
                <a:cs typeface="Calibri" pitchFamily="34" charset="-120"/>
              </a:rPr>
              <a:t>Explicit training loop — full control
</a:t>
            </a:r>
            <a:endParaRPr lang="en-US" sz="1350" dirty="0"/>
          </a:p>
          <a:p>
            <a:pPr marL="342900" indent="-342900">
              <a:spcAft>
                <a:spcPts val="800"/>
              </a:spcAft>
              <a:buSzPct val="100000"/>
              <a:buChar char="•"/>
            </a:pPr>
            <a:r>
              <a:rPr lang="en-US" sz="1350" dirty="0">
                <a:solidFill>
                  <a:srgbClr val="0B0B0B"/>
                </a:solidFill>
                <a:latin typeface="Calibri" pitchFamily="34" charset="0"/>
                <a:ea typeface="Calibri" pitchFamily="34" charset="-122"/>
                <a:cs typeface="Calibri" pitchFamily="34" charset="-120"/>
              </a:rPr>
              <a:t>BCEWithLogitsLoss(pos_weight≈8) for the 11% churn class
</a:t>
            </a:r>
            <a:endParaRPr lang="en-US" sz="1350" dirty="0"/>
          </a:p>
          <a:p>
            <a:pPr marL="342900" indent="-342900">
              <a:spcAft>
                <a:spcPts val="800"/>
              </a:spcAft>
              <a:buSzPct val="100000"/>
              <a:buChar char="•"/>
            </a:pPr>
            <a:r>
              <a:rPr lang="en-US" sz="1350" dirty="0">
                <a:solidFill>
                  <a:srgbClr val="0B0B0B"/>
                </a:solidFill>
                <a:latin typeface="Calibri" pitchFamily="34" charset="0"/>
                <a:ea typeface="Calibri" pitchFamily="34" charset="-122"/>
                <a:cs typeface="Calibri" pitchFamily="34" charset="-120"/>
              </a:rPr>
              <a:t>AdamW + manual early stopping on validation AUC
</a:t>
            </a:r>
            <a:endParaRPr lang="en-US" sz="1350" dirty="0"/>
          </a:p>
          <a:p>
            <a:pPr marL="342900" indent="-342900">
              <a:spcAft>
                <a:spcPts val="800"/>
              </a:spcAft>
              <a:buSzPct val="100000"/>
              <a:buChar char="•"/>
            </a:pPr>
            <a:r>
              <a:rPr lang="en-US" sz="1350" dirty="0">
                <a:solidFill>
                  <a:srgbClr val="0B0B0B"/>
                </a:solidFill>
                <a:latin typeface="Calibri" pitchFamily="34" charset="0"/>
                <a:ea typeface="Calibri" pitchFamily="34" charset="-122"/>
                <a:cs typeface="Calibri" pitchFamily="34" charset="-120"/>
              </a:rPr>
              <a:t>Best-epoch weights restored before testing</a:t>
            </a:r>
            <a:endParaRPr lang="en-US" sz="1350" dirty="0"/>
          </a:p>
        </p:txBody>
      </p:sp>
      <p:sp>
        <p:nvSpPr>
          <p:cNvPr id="6" name="Shape 4"/>
          <p:cNvSpPr/>
          <p:nvPr/>
        </p:nvSpPr>
        <p:spPr>
          <a:xfrm>
            <a:off x="6217920" y="1325880"/>
            <a:ext cx="5440680" cy="4023360"/>
          </a:xfrm>
          <a:prstGeom prst="roundRect">
            <a:avLst>
              <a:gd name="adj" fmla="val 1818"/>
            </a:avLst>
          </a:prstGeom>
          <a:solidFill>
            <a:srgbClr val="FDEFE8"/>
          </a:solidFill>
          <a:ln/>
        </p:spPr>
      </p:sp>
      <p:sp>
        <p:nvSpPr>
          <p:cNvPr id="7" name="Text 5"/>
          <p:cNvSpPr/>
          <p:nvPr/>
        </p:nvSpPr>
        <p:spPr>
          <a:xfrm>
            <a:off x="6492240" y="1508760"/>
            <a:ext cx="4937760" cy="457200"/>
          </a:xfrm>
          <a:prstGeom prst="rect">
            <a:avLst/>
          </a:prstGeom>
          <a:noFill/>
          <a:ln/>
        </p:spPr>
        <p:txBody>
          <a:bodyPr wrap="square" lIns="0" tIns="0" rIns="0" bIns="0" rtlCol="0" anchor="ctr"/>
          <a:lstStyle/>
          <a:p>
            <a:pPr indent="0" marL="0">
              <a:buNone/>
            </a:pPr>
            <a:r>
              <a:rPr lang="en-US" sz="2000" b="1" dirty="0">
                <a:solidFill>
                  <a:srgbClr val="EB6834"/>
                </a:solidFill>
                <a:latin typeface="Calibri" pitchFamily="34" charset="0"/>
                <a:ea typeface="Calibri" pitchFamily="34" charset="-122"/>
                <a:cs typeface="Calibri" pitchFamily="34" charset="-120"/>
              </a:rPr>
              <a:t>TensorFlow / Keras 🟠</a:t>
            </a:r>
            <a:endParaRPr lang="en-US" sz="2000" dirty="0"/>
          </a:p>
        </p:txBody>
      </p:sp>
      <p:sp>
        <p:nvSpPr>
          <p:cNvPr id="8" name="Text 6"/>
          <p:cNvSpPr/>
          <p:nvPr/>
        </p:nvSpPr>
        <p:spPr>
          <a:xfrm>
            <a:off x="6492240" y="2103120"/>
            <a:ext cx="4937760" cy="3017520"/>
          </a:xfrm>
          <a:prstGeom prst="rect">
            <a:avLst/>
          </a:prstGeom>
          <a:noFill/>
          <a:ln/>
        </p:spPr>
        <p:txBody>
          <a:bodyPr wrap="square" rtlCol="0" anchor="t"/>
          <a:lstStyle/>
          <a:p>
            <a:pPr marL="342900" indent="-342900">
              <a:spcAft>
                <a:spcPts val="800"/>
              </a:spcAft>
              <a:buSzPct val="100000"/>
              <a:buChar char="•"/>
            </a:pPr>
            <a:r>
              <a:rPr lang="en-US" sz="1350" dirty="0">
                <a:solidFill>
                  <a:srgbClr val="0B0B0B"/>
                </a:solidFill>
                <a:latin typeface="Calibri" pitchFamily="34" charset="0"/>
                <a:ea typeface="Calibri" pitchFamily="34" charset="-122"/>
                <a:cs typeface="Calibri" pitchFamily="34" charset="-120"/>
              </a:rPr>
              <a:t>model.fit handles the loop — high-level API
</a:t>
            </a:r>
            <a:endParaRPr lang="en-US" sz="1350" dirty="0"/>
          </a:p>
          <a:p>
            <a:pPr marL="342900" indent="-342900">
              <a:spcAft>
                <a:spcPts val="800"/>
              </a:spcAft>
              <a:buSzPct val="100000"/>
              <a:buChar char="•"/>
            </a:pPr>
            <a:r>
              <a:rPr lang="en-US" sz="1350" dirty="0">
                <a:solidFill>
                  <a:srgbClr val="0B0B0B"/>
                </a:solidFill>
                <a:latin typeface="Calibri" pitchFamily="34" charset="0"/>
                <a:ea typeface="Calibri" pitchFamily="34" charset="-122"/>
                <a:cs typeface="Calibri" pitchFamily="34" charset="-120"/>
              </a:rPr>
              <a:t>class_weight={0:1, 1:≈8} mirrors the PyTorch loss weighting
</a:t>
            </a:r>
            <a:endParaRPr lang="en-US" sz="1350" dirty="0"/>
          </a:p>
          <a:p>
            <a:pPr marL="342900" indent="-342900">
              <a:spcAft>
                <a:spcPts val="800"/>
              </a:spcAft>
              <a:buSzPct val="100000"/>
              <a:buChar char="•"/>
            </a:pPr>
            <a:r>
              <a:rPr lang="en-US" sz="1350" dirty="0">
                <a:solidFill>
                  <a:srgbClr val="0B0B0B"/>
                </a:solidFill>
                <a:latin typeface="Calibri" pitchFamily="34" charset="0"/>
                <a:ea typeface="Calibri" pitchFamily="34" charset="-122"/>
                <a:cs typeface="Calibri" pitchFamily="34" charset="-120"/>
              </a:rPr>
              <a:t>EarlyStopping(restore_best_weights=True) callback
</a:t>
            </a:r>
            <a:endParaRPr lang="en-US" sz="1350" dirty="0"/>
          </a:p>
          <a:p>
            <a:pPr marL="342900" indent="-342900">
              <a:spcAft>
                <a:spcPts val="800"/>
              </a:spcAft>
              <a:buSzPct val="100000"/>
              <a:buChar char="•"/>
            </a:pPr>
            <a:r>
              <a:rPr lang="en-US" sz="1350" dirty="0">
                <a:solidFill>
                  <a:srgbClr val="0B0B0B"/>
                </a:solidFill>
                <a:latin typeface="Calibri" pitchFamily="34" charset="0"/>
                <a:ea typeface="Calibri" pitchFamily="34" charset="-122"/>
                <a:cs typeface="Calibri" pitchFamily="34" charset="-120"/>
              </a:rPr>
              <a:t>Identical MLP: 128 → 64 → 1, BatchNorm + Dropout 0.3</a:t>
            </a:r>
            <a:endParaRPr lang="en-US" sz="1350" dirty="0"/>
          </a:p>
        </p:txBody>
      </p:sp>
      <p:sp>
        <p:nvSpPr>
          <p:cNvPr id="9" name="Text 7"/>
          <p:cNvSpPr/>
          <p:nvPr/>
        </p:nvSpPr>
        <p:spPr>
          <a:xfrm>
            <a:off x="548640" y="5623560"/>
            <a:ext cx="11064240" cy="411480"/>
          </a:xfrm>
          <a:prstGeom prst="rect">
            <a:avLst/>
          </a:prstGeom>
          <a:noFill/>
          <a:ln/>
        </p:spPr>
        <p:txBody>
          <a:bodyPr wrap="square" rtlCol="0" anchor="ctr"/>
          <a:lstStyle/>
          <a:p>
            <a:pPr algn="ctr" indent="0" marL="0">
              <a:buNone/>
            </a:pPr>
            <a:r>
              <a:rPr lang="en-US" sz="1300" i="1" dirty="0">
                <a:solidFill>
                  <a:srgbClr val="898781"/>
                </a:solidFill>
                <a:latin typeface="Calibri" pitchFamily="34" charset="0"/>
                <a:ea typeface="Calibri" pitchFamily="34" charset="-122"/>
                <a:cs typeface="Calibri" pitchFamily="34" charset="-120"/>
              </a:rPr>
              <a:t>Shared prep: one-hot encoding · StandardScaler · stratified 70/15/15 split · logistic-regression baseline for honesty</a:t>
            </a:r>
            <a:endParaRPr lang="en-US" sz="1300" dirty="0"/>
          </a:p>
        </p:txBody>
      </p:sp>
      <p:sp>
        <p:nvSpPr>
          <p:cNvPr id="10" name="Text 8"/>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Results: both deep models beat the baseline — and agree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120640" cy="914400"/>
        </p:xfrm>
        <a:graphic>
          <a:graphicData uri="http://schemas.openxmlformats.org/drawingml/2006/table">
            <a:tbl>
              <a:tblPr/>
              <a:tblGrid>
                <a:gridCol w="2560320"/>
                <a:gridCol w="1280160"/>
                <a:gridCol w="128016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2A78D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ROC-AUC (test)</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2A78D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PR-AUC (test)</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2A78D6"/>
                    </a:solidFill>
                  </a:tcPr>
                </a:tc>
              </a:tr>
              <a:tr h="384048">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PyTorch MLP</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0.8321</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0.4257</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84048">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TensorFlow MLP</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0.8349</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0.4250</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84048">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Logistic Regression (baseline)</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0.8009</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algn="ctr" indent="0" marL="0">
                        <a:buNone/>
                      </a:pPr>
                      <a:r>
                        <a:rPr lang="en-US" sz="1300" dirty="0">
                          <a:solidFill>
                            <a:srgbClr val="0B0B0B"/>
                          </a:solidFill>
                          <a:latin typeface="Calibri" pitchFamily="34" charset="0"/>
                          <a:ea typeface="Calibri" pitchFamily="34" charset="-122"/>
                          <a:cs typeface="Calibri" pitchFamily="34" charset="-120"/>
                        </a:rPr>
                        <a:t>0.3510</a:t>
                      </a:r>
                      <a:endParaRPr lang="en-US" sz="13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bl>
          </a:graphicData>
        </a:graphic>
      </p:graphicFrame>
      <p:sp>
        <p:nvSpPr>
          <p:cNvPr id="4" name="Text 1"/>
          <p:cNvSpPr/>
          <p:nvPr/>
        </p:nvSpPr>
        <p:spPr>
          <a:xfrm>
            <a:off x="548640" y="3337560"/>
            <a:ext cx="5212080" cy="36576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Best model: TensorFlow — used for the targeting analysis</a:t>
            </a:r>
            <a:endParaRPr lang="en-US" sz="1300" dirty="0"/>
          </a:p>
        </p:txBody>
      </p:sp>
      <p:sp>
        <p:nvSpPr>
          <p:cNvPr id="5" name="Text 2"/>
          <p:cNvSpPr/>
          <p:nvPr/>
        </p:nvSpPr>
        <p:spPr>
          <a:xfrm>
            <a:off x="548640" y="3794760"/>
            <a:ext cx="5212080" cy="1188720"/>
          </a:xfrm>
          <a:prstGeom prst="rect">
            <a:avLst/>
          </a:prstGeom>
          <a:noFill/>
          <a:ln/>
        </p:spPr>
        <p:txBody>
          <a:bodyPr wrap="square" lIns="0" tIns="0" rIns="0" bIns="0" rtlCol="0" anchor="t"/>
          <a:lstStyle/>
          <a:p>
            <a:pPr indent="0" marL="0">
              <a:buNone/>
            </a:pPr>
            <a:r>
              <a:rPr lang="en-US" sz="1350" dirty="0">
                <a:solidFill>
                  <a:srgbClr val="52514E"/>
                </a:solidFill>
                <a:latin typeface="Calibri" pitchFamily="34" charset="0"/>
                <a:ea typeface="Calibri" pitchFamily="34" charset="-122"/>
                <a:cs typeface="Calibri" pitchFamily="34" charset="-120"/>
              </a:rPr>
              <a:t>The two frameworks land within a fraction of a point of each other — evidence the signal is real, not a framework artifact.</a:t>
            </a:r>
            <a:endParaRPr lang="en-US" sz="1350" dirty="0"/>
          </a:p>
        </p:txBody>
      </p:sp>
      <p:pic>
        <p:nvPicPr>
          <p:cNvPr id="6" name="Image 0" descr="../results/figures/model_training_roc.png">    </p:cNvPr>
          <p:cNvPicPr>
            <a:picLocks noChangeAspect="1"/>
          </p:cNvPicPr>
          <p:nvPr/>
        </p:nvPicPr>
        <p:blipFill>
          <a:blip r:embed="rId1"/>
          <a:stretch>
            <a:fillRect/>
          </a:stretch>
        </p:blipFill>
        <p:spPr>
          <a:xfrm>
            <a:off x="5943600" y="1463040"/>
            <a:ext cx="5806440" cy="1627632"/>
          </a:xfrm>
          <a:prstGeom prst="rect">
            <a:avLst/>
          </a:prstGeom>
        </p:spPr>
      </p:pic>
      <p:pic>
        <p:nvPicPr>
          <p:cNvPr id="7" name="Image 1" descr="../results/figures/confusion_matrices.png">    </p:cNvPr>
          <p:cNvPicPr>
            <a:picLocks noChangeAspect="1"/>
          </p:cNvPicPr>
          <p:nvPr/>
        </p:nvPicPr>
        <p:blipFill>
          <a:blip r:embed="rId2"/>
          <a:stretch>
            <a:fillRect/>
          </a:stretch>
        </p:blipFill>
        <p:spPr>
          <a:xfrm>
            <a:off x="5943600" y="3291840"/>
            <a:ext cx="5806440" cy="2322576"/>
          </a:xfrm>
          <a:prstGeom prst="rect">
            <a:avLst/>
          </a:prstGeom>
        </p:spPr>
      </p:pic>
      <p:sp>
        <p:nvSpPr>
          <p:cNvPr id="8" name="Text 3"/>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From model to money: target the top 10%</a:t>
            </a:r>
            <a:endParaRPr lang="en-US" sz="3200" dirty="0"/>
          </a:p>
        </p:txBody>
      </p:sp>
      <p:sp>
        <p:nvSpPr>
          <p:cNvPr id="3" name="Shape 1"/>
          <p:cNvSpPr/>
          <p:nvPr/>
        </p:nvSpPr>
        <p:spPr>
          <a:xfrm>
            <a:off x="548640" y="1554480"/>
            <a:ext cx="3520440" cy="2011680"/>
          </a:xfrm>
          <a:prstGeom prst="roundRect">
            <a:avLst>
              <a:gd name="adj" fmla="val 3636"/>
            </a:avLst>
          </a:prstGeom>
          <a:solidFill>
            <a:srgbClr val="FFFFFF"/>
          </a:solidFill>
          <a:ln/>
        </p:spPr>
      </p:sp>
      <p:sp>
        <p:nvSpPr>
          <p:cNvPr id="4" name="Text 2"/>
          <p:cNvSpPr/>
          <p:nvPr/>
        </p:nvSpPr>
        <p:spPr>
          <a:xfrm>
            <a:off x="548640" y="1664208"/>
            <a:ext cx="3520440" cy="1046074"/>
          </a:xfrm>
          <a:prstGeom prst="rect">
            <a:avLst/>
          </a:prstGeom>
          <a:noFill/>
          <a:ln/>
        </p:spPr>
        <p:txBody>
          <a:bodyPr wrap="square" lIns="0" tIns="0" rIns="0" bIns="0" rtlCol="0" anchor="ctr"/>
          <a:lstStyle/>
          <a:p>
            <a:pPr algn="ctr" indent="0" marL="0">
              <a:buNone/>
            </a:pPr>
            <a:r>
              <a:rPr lang="en-US" sz="4000" b="1" dirty="0">
                <a:solidFill>
                  <a:srgbClr val="2A78D6"/>
                </a:solidFill>
                <a:latin typeface="Calibri" pitchFamily="34" charset="0"/>
                <a:ea typeface="Calibri" pitchFamily="34" charset="-122"/>
                <a:cs typeface="Calibri" pitchFamily="34" charset="-120"/>
              </a:rPr>
              <a:t>49%</a:t>
            </a:r>
            <a:endParaRPr lang="en-US" sz="4000" dirty="0"/>
          </a:p>
        </p:txBody>
      </p:sp>
      <p:sp>
        <p:nvSpPr>
          <p:cNvPr id="5" name="Text 3"/>
          <p:cNvSpPr/>
          <p:nvPr/>
        </p:nvSpPr>
        <p:spPr>
          <a:xfrm>
            <a:off x="685800" y="2761488"/>
            <a:ext cx="3246120" cy="724205"/>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of all churners captured in the top-10% risk slice</a:t>
            </a:r>
            <a:endParaRPr lang="en-US" sz="1250" dirty="0"/>
          </a:p>
        </p:txBody>
      </p:sp>
      <p:sp>
        <p:nvSpPr>
          <p:cNvPr id="6" name="Shape 4"/>
          <p:cNvSpPr/>
          <p:nvPr/>
        </p:nvSpPr>
        <p:spPr>
          <a:xfrm>
            <a:off x="4343400" y="1554480"/>
            <a:ext cx="3520440" cy="2011680"/>
          </a:xfrm>
          <a:prstGeom prst="roundRect">
            <a:avLst>
              <a:gd name="adj" fmla="val 3636"/>
            </a:avLst>
          </a:prstGeom>
          <a:solidFill>
            <a:srgbClr val="FFFFFF"/>
          </a:solidFill>
          <a:ln/>
        </p:spPr>
      </p:sp>
      <p:sp>
        <p:nvSpPr>
          <p:cNvPr id="7" name="Text 5"/>
          <p:cNvSpPr/>
          <p:nvPr/>
        </p:nvSpPr>
        <p:spPr>
          <a:xfrm>
            <a:off x="4343400" y="1664208"/>
            <a:ext cx="3520440" cy="1046074"/>
          </a:xfrm>
          <a:prstGeom prst="rect">
            <a:avLst/>
          </a:prstGeom>
          <a:noFill/>
          <a:ln/>
        </p:spPr>
        <p:txBody>
          <a:bodyPr wrap="square" lIns="0" tIns="0" rIns="0" bIns="0" rtlCol="0" anchor="ctr"/>
          <a:lstStyle/>
          <a:p>
            <a:pPr algn="ctr" indent="0" marL="0">
              <a:buNone/>
            </a:pPr>
            <a:r>
              <a:rPr lang="en-US" sz="4000" b="1" dirty="0">
                <a:solidFill>
                  <a:srgbClr val="EB6834"/>
                </a:solidFill>
                <a:latin typeface="Calibri" pitchFamily="34" charset="0"/>
                <a:ea typeface="Calibri" pitchFamily="34" charset="-122"/>
                <a:cs typeface="Calibri" pitchFamily="34" charset="-120"/>
              </a:rPr>
              <a:t>4.9×</a:t>
            </a:r>
            <a:endParaRPr lang="en-US" sz="4000" dirty="0"/>
          </a:p>
        </p:txBody>
      </p:sp>
      <p:sp>
        <p:nvSpPr>
          <p:cNvPr id="8" name="Text 6"/>
          <p:cNvSpPr/>
          <p:nvPr/>
        </p:nvSpPr>
        <p:spPr>
          <a:xfrm>
            <a:off x="4480560" y="2761488"/>
            <a:ext cx="3246120" cy="724205"/>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precision lift vs. untargeted outreach</a:t>
            </a:r>
            <a:endParaRPr lang="en-US" sz="1250" dirty="0"/>
          </a:p>
        </p:txBody>
      </p:sp>
      <p:sp>
        <p:nvSpPr>
          <p:cNvPr id="9" name="Shape 7"/>
          <p:cNvSpPr/>
          <p:nvPr/>
        </p:nvSpPr>
        <p:spPr>
          <a:xfrm>
            <a:off x="8138160" y="1554480"/>
            <a:ext cx="3520440" cy="2011680"/>
          </a:xfrm>
          <a:prstGeom prst="roundRect">
            <a:avLst>
              <a:gd name="adj" fmla="val 3636"/>
            </a:avLst>
          </a:prstGeom>
          <a:solidFill>
            <a:srgbClr val="FFFFFF"/>
          </a:solidFill>
          <a:ln/>
        </p:spPr>
      </p:sp>
      <p:sp>
        <p:nvSpPr>
          <p:cNvPr id="10" name="Text 8"/>
          <p:cNvSpPr/>
          <p:nvPr/>
        </p:nvSpPr>
        <p:spPr>
          <a:xfrm>
            <a:off x="8138160" y="1664208"/>
            <a:ext cx="3520440" cy="1046074"/>
          </a:xfrm>
          <a:prstGeom prst="rect">
            <a:avLst/>
          </a:prstGeom>
          <a:noFill/>
          <a:ln/>
        </p:spPr>
        <p:txBody>
          <a:bodyPr wrap="square" lIns="0" tIns="0" rIns="0" bIns="0" rtlCol="0" anchor="ctr"/>
          <a:lstStyle/>
          <a:p>
            <a:pPr algn="ctr" indent="0" marL="0">
              <a:buNone/>
            </a:pPr>
            <a:r>
              <a:rPr lang="en-US" sz="4000" b="1" dirty="0">
                <a:solidFill>
                  <a:srgbClr val="2A78D6"/>
                </a:solidFill>
                <a:latin typeface="Calibri" pitchFamily="34" charset="0"/>
                <a:ea typeface="Calibri" pitchFamily="34" charset="-122"/>
                <a:cs typeface="Calibri" pitchFamily="34" charset="-120"/>
              </a:rPr>
              <a:t>$86M</a:t>
            </a:r>
            <a:endParaRPr lang="en-US" sz="4000" dirty="0"/>
          </a:p>
        </p:txBody>
      </p:sp>
      <p:sp>
        <p:nvSpPr>
          <p:cNvPr id="11" name="Text 9"/>
          <p:cNvSpPr/>
          <p:nvPr/>
        </p:nvSpPr>
        <p:spPr>
          <a:xfrm>
            <a:off x="8275320" y="2761488"/>
            <a:ext cx="3246120" cy="724205"/>
          </a:xfrm>
          <a:prstGeom prst="rect">
            <a:avLst/>
          </a:prstGeom>
          <a:noFill/>
          <a:ln/>
        </p:spPr>
        <p:txBody>
          <a:bodyPr wrap="square" lIns="0" tIns="0" rIns="0" bIns="0" rtlCol="0" anchor="ctr"/>
          <a:lstStyle/>
          <a:p>
            <a:pPr algn="ctr" indent="0" marL="0">
              <a:buNone/>
            </a:pPr>
            <a:r>
              <a:rPr lang="en-US" sz="1250" dirty="0">
                <a:solidFill>
                  <a:srgbClr val="52514E"/>
                </a:solidFill>
                <a:latin typeface="Calibri" pitchFamily="34" charset="0"/>
                <a:ea typeface="Calibri" pitchFamily="34" charset="-122"/>
                <a:cs typeface="Calibri" pitchFamily="34" charset="-120"/>
              </a:rPr>
              <a:t>estimated net annual value at Chewy scale</a:t>
            </a:r>
            <a:endParaRPr lang="en-US" sz="1250" dirty="0"/>
          </a:p>
        </p:txBody>
      </p:sp>
      <p:sp>
        <p:nvSpPr>
          <p:cNvPr id="12" name="Text 10"/>
          <p:cNvSpPr/>
          <p:nvPr/>
        </p:nvSpPr>
        <p:spPr>
          <a:xfrm>
            <a:off x="548640" y="4023360"/>
            <a:ext cx="11064240" cy="146304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How it works: </a:t>
            </a:r>
            <a:pPr indent="0" marL="0">
              <a:buNone/>
            </a:pPr>
            <a:r>
              <a:rPr lang="en-US" sz="1500" dirty="0">
                <a:solidFill>
                  <a:srgbClr val="CADCFC"/>
                </a:solidFill>
                <a:latin typeface="Calibri" pitchFamily="34" charset="0"/>
                <a:ea typeface="Calibri" pitchFamily="34" charset="-122"/>
                <a:cs typeface="Calibri" pitchFamily="34" charset="-120"/>
              </a:rPr>
              <a:t>score all ~20M customers nightly, rank by churn probability, and route the top decile to retention (offers + proactive outreach). Assumptions: $500/yr customer value, $25 offer cost, 30% save rate on reached churners — conservative on every line.</a:t>
            </a:r>
            <a:endParaRPr lang="en-US" sz="1500" dirty="0"/>
          </a:p>
        </p:txBody>
      </p:sp>
      <p:sp>
        <p:nvSpPr>
          <p:cNvPr id="13" name="Text 11"/>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9FB6D9"/>
                </a:solidFill>
                <a:latin typeface="Calibri" pitchFamily="34" charset="0"/>
                <a:ea typeface="Calibri" pitchFamily="34" charset="-122"/>
                <a:cs typeface="Calibri" pitchFamily="34" charset="-120"/>
              </a:rPr>
              <a:t>Chewy Customer Churn Prediction  ·  PySpark + PyTorch + TensorFlow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rtlCol="0" anchor="ctr"/>
          <a:lstStyle/>
          <a:p>
            <a:pPr indent="0" marL="0">
              <a:buNone/>
            </a:pPr>
            <a:r>
              <a:rPr lang="en-US" sz="3200" b="1" dirty="0">
                <a:solidFill>
                  <a:srgbClr val="0B0B0B"/>
                </a:solidFill>
                <a:latin typeface="Calibri" pitchFamily="34" charset="0"/>
                <a:ea typeface="Calibri" pitchFamily="34" charset="-122"/>
                <a:cs typeface="Calibri" pitchFamily="34" charset="-120"/>
              </a:rPr>
              <a:t>What the retention team should do Monday morning</a:t>
            </a:r>
            <a:endParaRPr lang="en-US" sz="3200" dirty="0"/>
          </a:p>
        </p:txBody>
      </p:sp>
      <p:sp>
        <p:nvSpPr>
          <p:cNvPr id="3" name="Shape 1"/>
          <p:cNvSpPr/>
          <p:nvPr/>
        </p:nvSpPr>
        <p:spPr>
          <a:xfrm>
            <a:off x="548640" y="1463040"/>
            <a:ext cx="5440680" cy="2011680"/>
          </a:xfrm>
          <a:prstGeom prst="roundRect">
            <a:avLst>
              <a:gd name="adj" fmla="val 3636"/>
            </a:avLst>
          </a:prstGeom>
          <a:solidFill>
            <a:srgbClr val="EAF2FC"/>
          </a:solidFill>
          <a:ln/>
        </p:spPr>
      </p:sp>
      <p:sp>
        <p:nvSpPr>
          <p:cNvPr id="4" name="Shape 2"/>
          <p:cNvSpPr/>
          <p:nvPr/>
        </p:nvSpPr>
        <p:spPr>
          <a:xfrm>
            <a:off x="777240" y="1691640"/>
            <a:ext cx="548640" cy="548640"/>
          </a:xfrm>
          <a:prstGeom prst="ellipse">
            <a:avLst/>
          </a:prstGeom>
          <a:solidFill>
            <a:srgbClr val="2A78D6"/>
          </a:solidFill>
          <a:ln/>
        </p:spPr>
      </p:sp>
      <p:sp>
        <p:nvSpPr>
          <p:cNvPr id="5" name="Text 3"/>
          <p:cNvSpPr/>
          <p:nvPr/>
        </p:nvSpPr>
        <p:spPr>
          <a:xfrm>
            <a:off x="777240" y="1691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p:nvPr/>
        </p:nvSpPr>
        <p:spPr>
          <a:xfrm>
            <a:off x="1508760" y="1719072"/>
            <a:ext cx="4297680" cy="502920"/>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Convert to Autoship</a:t>
            </a:r>
            <a:endParaRPr lang="en-US" sz="1700" dirty="0"/>
          </a:p>
        </p:txBody>
      </p:sp>
      <p:sp>
        <p:nvSpPr>
          <p:cNvPr id="7" name="Text 5"/>
          <p:cNvSpPr/>
          <p:nvPr/>
        </p:nvSpPr>
        <p:spPr>
          <a:xfrm>
            <a:off x="1508760" y="2240280"/>
            <a:ext cx="4251960" cy="109728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Non-subscribers churn ~4× more. Target at-risk one-off buyers with Autoship trial offers.</a:t>
            </a:r>
            <a:endParaRPr lang="en-US" sz="1300" dirty="0"/>
          </a:p>
        </p:txBody>
      </p:sp>
      <p:sp>
        <p:nvSpPr>
          <p:cNvPr id="8" name="Shape 6"/>
          <p:cNvSpPr/>
          <p:nvPr/>
        </p:nvSpPr>
        <p:spPr>
          <a:xfrm>
            <a:off x="6309360" y="1463040"/>
            <a:ext cx="5440680" cy="2011680"/>
          </a:xfrm>
          <a:prstGeom prst="roundRect">
            <a:avLst>
              <a:gd name="adj" fmla="val 3636"/>
            </a:avLst>
          </a:prstGeom>
          <a:solidFill>
            <a:srgbClr val="FDEFE8"/>
          </a:solidFill>
          <a:ln/>
        </p:spPr>
      </p:sp>
      <p:sp>
        <p:nvSpPr>
          <p:cNvPr id="9" name="Shape 7"/>
          <p:cNvSpPr/>
          <p:nvPr/>
        </p:nvSpPr>
        <p:spPr>
          <a:xfrm>
            <a:off x="6537960" y="1691640"/>
            <a:ext cx="548640" cy="548640"/>
          </a:xfrm>
          <a:prstGeom prst="ellipse">
            <a:avLst/>
          </a:prstGeom>
          <a:solidFill>
            <a:srgbClr val="EB6834"/>
          </a:solidFill>
          <a:ln/>
        </p:spPr>
      </p:sp>
      <p:sp>
        <p:nvSpPr>
          <p:cNvPr id="10" name="Text 8"/>
          <p:cNvSpPr/>
          <p:nvPr/>
        </p:nvSpPr>
        <p:spPr>
          <a:xfrm>
            <a:off x="6537960" y="1691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1" name="Text 9"/>
          <p:cNvSpPr/>
          <p:nvPr/>
        </p:nvSpPr>
        <p:spPr>
          <a:xfrm>
            <a:off x="7269480" y="1719072"/>
            <a:ext cx="4297680" cy="502920"/>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Fix tickets fast</a:t>
            </a:r>
            <a:endParaRPr lang="en-US" sz="1700" dirty="0"/>
          </a:p>
        </p:txBody>
      </p:sp>
      <p:sp>
        <p:nvSpPr>
          <p:cNvPr id="12" name="Text 10"/>
          <p:cNvSpPr/>
          <p:nvPr/>
        </p:nvSpPr>
        <p:spPr>
          <a:xfrm>
            <a:off x="7269480" y="2240280"/>
            <a:ext cx="4251960" cy="109728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Unresolved support tickets multiply churn. Auto-escalate any open ticket on a high-risk account.</a:t>
            </a:r>
            <a:endParaRPr lang="en-US" sz="1300" dirty="0"/>
          </a:p>
        </p:txBody>
      </p:sp>
      <p:sp>
        <p:nvSpPr>
          <p:cNvPr id="13" name="Shape 11"/>
          <p:cNvSpPr/>
          <p:nvPr/>
        </p:nvSpPr>
        <p:spPr>
          <a:xfrm>
            <a:off x="548640" y="3749040"/>
            <a:ext cx="5440680" cy="2011680"/>
          </a:xfrm>
          <a:prstGeom prst="roundRect">
            <a:avLst>
              <a:gd name="adj" fmla="val 3636"/>
            </a:avLst>
          </a:prstGeom>
          <a:solidFill>
            <a:srgbClr val="EAF2FC"/>
          </a:solidFill>
          <a:ln/>
        </p:spPr>
      </p:sp>
      <p:sp>
        <p:nvSpPr>
          <p:cNvPr id="14" name="Shape 12"/>
          <p:cNvSpPr/>
          <p:nvPr/>
        </p:nvSpPr>
        <p:spPr>
          <a:xfrm>
            <a:off x="777240" y="3977640"/>
            <a:ext cx="548640" cy="548640"/>
          </a:xfrm>
          <a:prstGeom prst="ellipse">
            <a:avLst/>
          </a:prstGeom>
          <a:solidFill>
            <a:srgbClr val="2A78D6"/>
          </a:solidFill>
          <a:ln/>
        </p:spPr>
      </p:sp>
      <p:sp>
        <p:nvSpPr>
          <p:cNvPr id="15" name="Text 13"/>
          <p:cNvSpPr/>
          <p:nvPr/>
        </p:nvSpPr>
        <p:spPr>
          <a:xfrm>
            <a:off x="777240" y="3977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6" name="Text 14"/>
          <p:cNvSpPr/>
          <p:nvPr/>
        </p:nvSpPr>
        <p:spPr>
          <a:xfrm>
            <a:off x="1508760" y="4005072"/>
            <a:ext cx="4297680" cy="502920"/>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Watch the silence</a:t>
            </a:r>
            <a:endParaRPr lang="en-US" sz="1700" dirty="0"/>
          </a:p>
        </p:txBody>
      </p:sp>
      <p:sp>
        <p:nvSpPr>
          <p:cNvPr id="17" name="Text 15"/>
          <p:cNvSpPr/>
          <p:nvPr/>
        </p:nvSpPr>
        <p:spPr>
          <a:xfrm>
            <a:off x="1508760" y="4526280"/>
            <a:ext cx="4251960" cy="109728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Alert when a customer's gap exceeds their personal cadence (order_gap_ratio) — before they're gone.</a:t>
            </a:r>
            <a:endParaRPr lang="en-US" sz="1300" dirty="0"/>
          </a:p>
        </p:txBody>
      </p:sp>
      <p:sp>
        <p:nvSpPr>
          <p:cNvPr id="18" name="Shape 16"/>
          <p:cNvSpPr/>
          <p:nvPr/>
        </p:nvSpPr>
        <p:spPr>
          <a:xfrm>
            <a:off x="6309360" y="3749040"/>
            <a:ext cx="5440680" cy="2011680"/>
          </a:xfrm>
          <a:prstGeom prst="roundRect">
            <a:avLst>
              <a:gd name="adj" fmla="val 3636"/>
            </a:avLst>
          </a:prstGeom>
          <a:solidFill>
            <a:srgbClr val="EAF2FC"/>
          </a:solidFill>
          <a:ln/>
        </p:spPr>
      </p:sp>
      <p:sp>
        <p:nvSpPr>
          <p:cNvPr id="19" name="Shape 17"/>
          <p:cNvSpPr/>
          <p:nvPr/>
        </p:nvSpPr>
        <p:spPr>
          <a:xfrm>
            <a:off x="6537960" y="3977640"/>
            <a:ext cx="548640" cy="548640"/>
          </a:xfrm>
          <a:prstGeom prst="ellipse">
            <a:avLst/>
          </a:prstGeom>
          <a:solidFill>
            <a:srgbClr val="2A78D6"/>
          </a:solidFill>
          <a:ln/>
        </p:spPr>
      </p:sp>
      <p:sp>
        <p:nvSpPr>
          <p:cNvPr id="20" name="Text 18"/>
          <p:cNvSpPr/>
          <p:nvPr/>
        </p:nvSpPr>
        <p:spPr>
          <a:xfrm>
            <a:off x="6537960" y="3977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1" name="Text 19"/>
          <p:cNvSpPr/>
          <p:nvPr/>
        </p:nvSpPr>
        <p:spPr>
          <a:xfrm>
            <a:off x="7269480" y="4005072"/>
            <a:ext cx="4297680" cy="502920"/>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Onboard deliberately</a:t>
            </a:r>
            <a:endParaRPr lang="en-US" sz="1700" dirty="0"/>
          </a:p>
        </p:txBody>
      </p:sp>
      <p:sp>
        <p:nvSpPr>
          <p:cNvPr id="22" name="Text 20"/>
          <p:cNvSpPr/>
          <p:nvPr/>
        </p:nvSpPr>
        <p:spPr>
          <a:xfrm>
            <a:off x="7269480" y="4526280"/>
            <a:ext cx="4251960" cy="109728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Churn peaks in months 0–6. Invest in early-lifecycle nurture, not just acquisition.</a:t>
            </a:r>
            <a:endParaRPr lang="en-US" sz="1300" dirty="0"/>
          </a:p>
        </p:txBody>
      </p:sp>
      <p:sp>
        <p:nvSpPr>
          <p:cNvPr id="23" name="Text 21"/>
          <p:cNvSpPr/>
          <p:nvPr/>
        </p:nvSpPr>
        <p:spPr>
          <a:xfrm>
            <a:off x="548640" y="6446520"/>
            <a:ext cx="11064240" cy="27432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Chewy Customer Churn Prediction  ·  PySpark + PyTorch + TensorFlow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822960" y="822960"/>
            <a:ext cx="10515600" cy="73152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What's next</a:t>
            </a:r>
            <a:endParaRPr lang="en-US" sz="3400" dirty="0"/>
          </a:p>
        </p:txBody>
      </p:sp>
      <p:sp>
        <p:nvSpPr>
          <p:cNvPr id="3" name="Text 1"/>
          <p:cNvSpPr/>
          <p:nvPr/>
        </p:nvSpPr>
        <p:spPr>
          <a:xfrm>
            <a:off x="822960" y="1691640"/>
            <a:ext cx="10332720" cy="2651760"/>
          </a:xfrm>
          <a:prstGeom prst="rect">
            <a:avLst/>
          </a:prstGeom>
          <a:noFill/>
          <a:ln/>
        </p:spPr>
        <p:txBody>
          <a:bodyPr wrap="square" rtlCol="0" anchor="t"/>
          <a:lstStyle/>
          <a:p>
            <a:pPr marL="342900" indent="-342900">
              <a:spcAft>
                <a:spcPts val="1000"/>
              </a:spcAft>
              <a:buSzPct val="100000"/>
              <a:buChar char="•"/>
            </a:pPr>
            <a:r>
              <a:rPr lang="en-US" sz="1650" dirty="0">
                <a:solidFill>
                  <a:srgbClr val="CADCFC"/>
                </a:solidFill>
                <a:latin typeface="Calibri" pitchFamily="34" charset="0"/>
                <a:ea typeface="Calibri" pitchFamily="34" charset="-122"/>
                <a:cs typeface="Calibri" pitchFamily="34" charset="-120"/>
              </a:rPr>
              <a:t>Time-based validation (train months 1–9, test 10–12)
</a:t>
            </a:r>
            <a:endParaRPr lang="en-US" sz="1650" dirty="0"/>
          </a:p>
          <a:p>
            <a:pPr marL="342900" indent="-342900">
              <a:spcAft>
                <a:spcPts val="1000"/>
              </a:spcAft>
              <a:buSzPct val="100000"/>
              <a:buChar char="•"/>
            </a:pPr>
            <a:r>
              <a:rPr lang="en-US" sz="1650" dirty="0">
                <a:solidFill>
                  <a:srgbClr val="CADCFC"/>
                </a:solidFill>
                <a:latin typeface="Calibri" pitchFamily="34" charset="0"/>
                <a:ea typeface="Calibri" pitchFamily="34" charset="-122"/>
                <a:cs typeface="Calibri" pitchFamily="34" charset="-120"/>
              </a:rPr>
              <a:t>Gradient-boosted trees (XGBoost / LightGBM) as a third contender
</a:t>
            </a:r>
            <a:endParaRPr lang="en-US" sz="1650" dirty="0"/>
          </a:p>
          <a:p>
            <a:pPr marL="342900" indent="-342900">
              <a:spcAft>
                <a:spcPts val="1000"/>
              </a:spcAft>
              <a:buSzPct val="100000"/>
              <a:buChar char="•"/>
            </a:pPr>
            <a:r>
              <a:rPr lang="en-US" sz="1650" dirty="0">
                <a:solidFill>
                  <a:srgbClr val="CADCFC"/>
                </a:solidFill>
                <a:latin typeface="Calibri" pitchFamily="34" charset="0"/>
                <a:ea typeface="Calibri" pitchFamily="34" charset="-122"/>
                <a:cs typeface="Calibri" pitchFamily="34" charset="-120"/>
              </a:rPr>
              <a:t>Survival analysis — when will they churn, not just if
</a:t>
            </a:r>
            <a:endParaRPr lang="en-US" sz="1650" dirty="0"/>
          </a:p>
          <a:p>
            <a:pPr marL="342900" indent="-342900">
              <a:spcAft>
                <a:spcPts val="1000"/>
              </a:spcAft>
              <a:buSzPct val="100000"/>
              <a:buChar char="•"/>
            </a:pPr>
            <a:r>
              <a:rPr lang="en-US" sz="1650" dirty="0">
                <a:solidFill>
                  <a:srgbClr val="CADCFC"/>
                </a:solidFill>
                <a:latin typeface="Calibri" pitchFamily="34" charset="0"/>
                <a:ea typeface="Calibri" pitchFamily="34" charset="-122"/>
                <a:cs typeface="Calibri" pitchFamily="34" charset="-120"/>
              </a:rPr>
              <a:t>SHAP explanations per customer, readable by the retention team
</a:t>
            </a:r>
            <a:endParaRPr lang="en-US" sz="1650" dirty="0"/>
          </a:p>
          <a:p>
            <a:pPr marL="342900" indent="-342900">
              <a:spcAft>
                <a:spcPts val="1000"/>
              </a:spcAft>
              <a:buSzPct val="100000"/>
              <a:buChar char="•"/>
            </a:pPr>
            <a:r>
              <a:rPr lang="en-US" sz="1650" dirty="0">
                <a:solidFill>
                  <a:srgbClr val="CADCFC"/>
                </a:solidFill>
                <a:latin typeface="Calibri" pitchFamily="34" charset="0"/>
                <a:ea typeface="Calibri" pitchFamily="34" charset="-122"/>
                <a:cs typeface="Calibri" pitchFamily="34" charset="-120"/>
              </a:rPr>
              <a:t>Deploy: nightly Spark batch scoring → CRM queue</a:t>
            </a:r>
            <a:endParaRPr lang="en-US" sz="1650" dirty="0"/>
          </a:p>
        </p:txBody>
      </p:sp>
      <p:sp>
        <p:nvSpPr>
          <p:cNvPr id="4" name="Text 2"/>
          <p:cNvSpPr/>
          <p:nvPr/>
        </p:nvSpPr>
        <p:spPr>
          <a:xfrm>
            <a:off x="822960" y="4709160"/>
            <a:ext cx="10332720" cy="1005840"/>
          </a:xfrm>
          <a:prstGeom prst="rect">
            <a:avLst/>
          </a:prstGeom>
          <a:noFill/>
          <a:ln/>
        </p:spPr>
        <p:txBody>
          <a:bodyPr wrap="square" rtlCol="0" anchor="t"/>
          <a:lstStyle/>
          <a:p>
            <a:pPr indent="0" marL="0">
              <a:buNone/>
            </a:pPr>
            <a:r>
              <a:rPr lang="en-US" sz="1400" dirty="0">
                <a:solidFill>
                  <a:srgbClr val="9FB6D9"/>
                </a:solidFill>
                <a:latin typeface="Calibri" pitchFamily="34" charset="0"/>
                <a:ea typeface="Calibri" pitchFamily="34" charset="-122"/>
                <a:cs typeface="Calibri" pitchFamily="34" charset="-120"/>
              </a:rPr>
              <a:t>Full project — code, Colab notebook, report:
</a:t>
            </a:r>
            <a:pPr indent="0" marL="0">
              <a:buNone/>
            </a:pPr>
            <a:r>
              <a:rPr lang="en-US" sz="2000" b="1" dirty="0">
                <a:solidFill>
                  <a:srgbClr val="FFFFFF"/>
                </a:solidFill>
                <a:latin typeface="Calibri" pitchFamily="34" charset="0"/>
                <a:ea typeface="Calibri" pitchFamily="34" charset="-122"/>
                <a:cs typeface="Calibri" pitchFamily="34" charset="-120"/>
              </a:rPr>
              <a:t>github.com/minkaz65/chewy-churn-prediction</a:t>
            </a:r>
            <a:endParaRPr lang="en-US" sz="1400" dirty="0"/>
          </a:p>
        </p:txBody>
      </p:sp>
      <p:sp>
        <p:nvSpPr>
          <p:cNvPr id="5" name="Text 3"/>
          <p:cNvSpPr/>
          <p:nvPr/>
        </p:nvSpPr>
        <p:spPr>
          <a:xfrm>
            <a:off x="822960" y="5989320"/>
            <a:ext cx="10332720" cy="365760"/>
          </a:xfrm>
          <a:prstGeom prst="rect">
            <a:avLst/>
          </a:prstGeom>
          <a:noFill/>
          <a:ln/>
        </p:spPr>
        <p:txBody>
          <a:bodyPr wrap="square" rtlCol="0" anchor="ctr"/>
          <a:lstStyle/>
          <a:p>
            <a:pPr indent="0" marL="0">
              <a:buNone/>
            </a:pPr>
            <a:r>
              <a:rPr lang="en-US" sz="1050" i="1" dirty="0">
                <a:solidFill>
                  <a:srgbClr val="9FB6D9"/>
                </a:solidFill>
                <a:latin typeface="Calibri" pitchFamily="34" charset="0"/>
                <a:ea typeface="Calibri" pitchFamily="34" charset="-122"/>
                <a:cs typeface="Calibri" pitchFamily="34" charset="-120"/>
              </a:rPr>
              <a:t>Independent portfolio project · not affiliated with Chewy, Inc. · all customer data is synthetic</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2026-07-23T15:45:52Z</dcterms:created>
  <dcterms:modified xsi:type="dcterms:W3CDTF">2026-07-23T15:45:52Z</dcterms:modified>
</cp:coreProperties>
</file>